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Int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E2D5650-049D-48C0-862F-1EEEC34E3890}">
  <a:tblStyle styleId="{0E2D5650-049D-48C0-862F-1EEEC34E38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11" Type="http://schemas.openxmlformats.org/officeDocument/2006/relationships/slide" Target="slides/slide5.xml"/><Relationship Id="rId22" Type="http://schemas.openxmlformats.org/officeDocument/2006/relationships/font" Target="fonts/Inter-italic.fntdata"/><Relationship Id="rId10" Type="http://schemas.openxmlformats.org/officeDocument/2006/relationships/slide" Target="slides/slide4.xml"/><Relationship Id="rId21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cd2e936a0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cd2e936a0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11" Type="http://schemas.openxmlformats.org/officeDocument/2006/relationships/image" Target="../media/image14.png"/><Relationship Id="rId10" Type="http://schemas.openxmlformats.org/officeDocument/2006/relationships/image" Target="../media/image18.png"/><Relationship Id="rId12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27.png"/><Relationship Id="rId10" Type="http://schemas.openxmlformats.org/officeDocument/2006/relationships/image" Target="../media/image36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72150" y="1738312"/>
            <a:ext cx="64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30441" y="2500312"/>
            <a:ext cx="893111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Pharmacy POS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886075" y="3881437"/>
            <a:ext cx="64198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2DFDB"/>
                </a:solidFill>
                <a:latin typeface="Inter"/>
                <a:ea typeface="Inter"/>
                <a:cs typeface="Inter"/>
                <a:sym typeface="Inter"/>
              </a:rPr>
              <a:t>Modernizing Pharmaceutical Operations in Zambia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833812" y="4662487"/>
            <a:ext cx="4524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CSC 4630 - Advanced Software Engineering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Group 20 | Engineering a Safer Health Ecosystem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PRESENTATION AGENDA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439400" y="6505575"/>
            <a:ext cx="13716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CSC 4630 | Group 20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0125" y="26670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Problem Statement &amp; Context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000125" y="32194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Business Case &amp; Feasibility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00125" y="37719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Risk Assessment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3243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Functional Requirements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15125" y="26670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System Constraints (NFRs)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15125" y="32194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Project Scope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15125" y="37719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Story-Mode Use Cases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15125" y="43243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Iteration Planning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57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5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575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3624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762000"/>
            <a:ext cx="52006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1447800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Many Zambian pharmacies struggle with legacy manual record-keeping, leading to critical operational failures: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00125" y="224790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Inadvertent Sale</a:t>
            </a: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 of expired medication.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280035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Stock Shortages</a:t>
            </a: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 of life-saving drugs.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335280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Pricing Inaccuracies</a:t>
            </a: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 and poor tracking.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0125" y="3905250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Compliance Risks</a:t>
            </a: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 with local regulations.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86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84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433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7350"/>
            <a:ext cx="533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57350"/>
            <a:ext cx="533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2400"/>
            <a:ext cx="5334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962400"/>
            <a:ext cx="5334000" cy="19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THE BUSINESS CASE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66775" y="195262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Operational Value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2343150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Immediate improvement in sales accuracy and real-time inventory synchronization. Reduced human error translates directly to higher customer trust and safety.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5" y="195262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Strategic Value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581775" y="2343150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Automated expiry monitoring prevents stock loss. Compliance with Zambian pharmaceutical laws becomes built-in rather than a manual chore.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66775" y="425767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Financial Impact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66775" y="4648200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Setup costs are offset by reduced inventory wastage and faster transaction times, allowing more customers to be served per hour.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81775" y="425767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4648200"/>
            <a:ext cx="4743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Modular architecture allows the system to grow as the pharmacy expands from a single location to a regional chain.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FEASIBILITY ASSESSMENT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571500" y="1704975"/>
            <a:ext cx="11049000" cy="41338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571500" y="170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{0E2D5650-049D-48C0-862F-1EEEC34E3890}</a:tableStyleId>
              </a:tblPr>
              <a:tblGrid>
                <a:gridCol w="2762250"/>
                <a:gridCol w="8286750"/>
              </a:tblGrid>
              <a:tr h="8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Feasibility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Description &amp; Conclusion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96B"/>
                    </a:solidFill>
                  </a:tcPr>
                </a:tc>
              </a:tr>
              <a:tr h="8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Technical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Leveraging Java/Python and MySQL/PostgreSQL. Local hardware infrastructure (scanners/printers) is readily available in Zambia.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Economic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Investment is justified by substantial reduction in losses from expired stock and increased operational efficiency.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8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Operational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Intuitive UX design ensures that pharmacists and cashiers require minimal training to transition from manual systems.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6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Schedule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7474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Agile methodology allows for rapid prototyping and incremental releases within the academic timeline.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7"/>
          <p:cNvSpPr/>
          <p:nvPr/>
        </p:nvSpPr>
        <p:spPr>
          <a:xfrm>
            <a:off x="571500" y="3224212"/>
            <a:ext cx="2762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3333750" y="3224212"/>
            <a:ext cx="8286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571500" y="4090987"/>
            <a:ext cx="2762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3333750" y="4090987"/>
            <a:ext cx="8286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4957762"/>
            <a:ext cx="2762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333750" y="4957762"/>
            <a:ext cx="8286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5824537"/>
            <a:ext cx="2762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3333750" y="5824537"/>
            <a:ext cx="82867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573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2573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2573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62450"/>
            <a:ext cx="538162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4362450"/>
            <a:ext cx="5381625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PROJECT RISK MANAGEMENT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4875" y="163830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904875" y="2209800"/>
            <a:ext cx="156019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Security Risk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904875" y="2800350"/>
            <a:ext cx="28257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Unauthorized access to financial/patient data. Mitigation: Role-based access (RBAC).</a:t>
            </a:r>
            <a:endParaRPr/>
          </a:p>
        </p:txBody>
      </p:sp>
      <p:pic>
        <p:nvPicPr>
          <p:cNvPr descr="image.png" id="181" name="Google Shape;181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83174" y="16383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4683174" y="2209800"/>
            <a:ext cx="11501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Data Loss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4683174" y="2800350"/>
            <a:ext cx="28257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Loss of prescription data due to system failure. Mitigation: Automated backups.</a:t>
            </a:r>
            <a:endParaRPr/>
          </a:p>
        </p:txBody>
      </p:sp>
      <p:pic>
        <p:nvPicPr>
          <p:cNvPr descr="image.png" id="184" name="Google Shape;184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61474" y="16383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8461474" y="2209800"/>
            <a:ext cx="19002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User Resistance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461474" y="2800350"/>
            <a:ext cx="28257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Staff hesitation toward automation. Mitigation: Hands-on training sessions.</a:t>
            </a:r>
            <a:endParaRPr/>
          </a:p>
        </p:txBody>
      </p:sp>
      <p:pic>
        <p:nvPicPr>
          <p:cNvPr descr="image.png" id="187" name="Google Shape;187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04875" y="474345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904875" y="5314950"/>
            <a:ext cx="129016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Regulatory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04875" y="5905500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Failure to meet Zambian pharmacy laws. Mitigation: Continuous legal reviews.</a:t>
            </a:r>
            <a:endParaRPr/>
          </a:p>
        </p:txBody>
      </p:sp>
      <p:pic>
        <p:nvPicPr>
          <p:cNvPr descr="image.png" id="190" name="Google Shape;19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2250" y="47434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6572250" y="5314950"/>
            <a:ext cx="114014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Technical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572250" y="5905500"/>
            <a:ext cx="4714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Slowdowns during peak hours. Mitigation: Performance load testing.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FUNCTIONAL REQUIREMENTS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1000125" y="26670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Process medicine sales and generate receipts.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000125" y="32194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Validate and record prescription-based sales.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000125" y="37719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Multi-mode payment: Cash, Card, Mobile Money.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000125" y="43243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Auto-update inventory levels per transaction.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6715125" y="26670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Batch number and expiry date tracking.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6715125" y="32194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Automatic block on expired medicine sales.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6715125" y="377190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Low-stock and expiry dashboard alerts.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715125" y="4324350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Daily, weekly, and monthly financial reports.</a:t>
            </a:r>
            <a:endParaRPr/>
          </a:p>
        </p:txBody>
      </p:sp>
      <p:pic>
        <p:nvPicPr>
          <p:cNvPr descr="image.png" id="208" name="Google Shape;20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575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10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62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5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2575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10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436245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2547937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105025"/>
            <a:ext cx="2547937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105025"/>
            <a:ext cx="2547937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105025"/>
            <a:ext cx="2547937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CORE NON-FUNCTIONAL REQUIREMENTS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4875" y="24860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904875" y="3057525"/>
            <a:ext cx="15301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Performance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904875" y="3648075"/>
            <a:ext cx="188118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Sales processing in under 3 seconds to handle busy Zambian market hours.</a:t>
            </a:r>
            <a:endParaRPr/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38562" y="248602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3738562" y="3057525"/>
            <a:ext cx="105013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Usability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738562" y="3648075"/>
            <a:ext cx="188118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Clean, clutter-free interface optimized for rapid input and readability.</a:t>
            </a:r>
            <a:endParaRPr/>
          </a:p>
        </p:txBody>
      </p:sp>
      <p:pic>
        <p:nvPicPr>
          <p:cNvPr descr="image.png" id="233" name="Google Shape;23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72250" y="248602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/>
          <p:cNvSpPr txBox="1"/>
          <p:nvPr/>
        </p:nvSpPr>
        <p:spPr>
          <a:xfrm>
            <a:off x="6572250" y="3057525"/>
            <a:ext cx="1000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Security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572250" y="3648075"/>
            <a:ext cx="188118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Encrypted data storage and strictly enforced permissions for Admins vs. Cashiers.</a:t>
            </a:r>
            <a:endParaRPr/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05937" y="24860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 txBox="1"/>
          <p:nvPr/>
        </p:nvSpPr>
        <p:spPr>
          <a:xfrm>
            <a:off x="9405937" y="3057525"/>
            <a:ext cx="11801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Reliability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9405937" y="3648075"/>
            <a:ext cx="1881187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High availability with persistent data integrity for stock levels.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PROJECT SCOPE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210026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796B"/>
                </a:solidFill>
                <a:latin typeface="Inter"/>
                <a:ea typeface="Inter"/>
                <a:cs typeface="Inter"/>
                <a:sym typeface="Inter"/>
              </a:rPr>
              <a:t>In Scope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571500" y="4043362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32F2F"/>
                </a:solidFill>
                <a:latin typeface="Inter"/>
                <a:ea typeface="Inter"/>
                <a:cs typeface="Inter"/>
                <a:sym typeface="Inter"/>
              </a:rPr>
              <a:t>Out of Scope</a:t>
            </a:r>
            <a:endParaRPr/>
          </a:p>
        </p:txBody>
      </p:sp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5025"/>
            <a:ext cx="5334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19312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1000125" y="25098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Real-time inventory &amp; alerts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1000125" y="30051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Mobile Money integration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000125" y="35004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Sales &amp; Stock reporting</a:t>
            </a:r>
            <a:endParaRPr/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2412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1000125" y="44529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Online eCommerce sales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1000125" y="4948237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NHIMA insurance claims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547937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43237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38537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491037"/>
            <a:ext cx="2095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86337"/>
            <a:ext cx="2095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775" y="2403350"/>
            <a:ext cx="5334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5075" y="2403350"/>
            <a:ext cx="5334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SYSTEM USE CASES: </a:t>
            </a:r>
            <a:r>
              <a:rPr b="1" lang="en-US" sz="3150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Atleast 10% </a:t>
            </a:r>
            <a:endParaRPr/>
          </a:p>
        </p:txBody>
      </p:sp>
      <p:sp>
        <p:nvSpPr>
          <p:cNvPr id="269" name="Google Shape;269;p22"/>
          <p:cNvSpPr/>
          <p:nvPr/>
        </p:nvSpPr>
        <p:spPr>
          <a:xfrm>
            <a:off x="0" y="0"/>
            <a:ext cx="95400" cy="9717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1019175" y="26933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Use Case 01- Process Prescription Sale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6775" y="3038875"/>
            <a:ext cx="47436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The Cashier enters the patients details and prescription ID.The system validates the prescription digitally,checks insurance eligibility and co-pay,and process the payment. It logs the sale against the specific pharmacist who verified the order 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6852675" y="2693300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Use Case 02-  Process Over-the-Counter(OTC) Sale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6788625" y="3362750"/>
            <a:ext cx="4743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The Cashier Scans OTC items,calculates total,processes payment,and prints </a:t>
            </a:r>
            <a:r>
              <a:rPr i="1" lang="en-US" sz="1350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receipt.</a:t>
            </a:r>
            <a:endParaRPr/>
          </a:p>
        </p:txBody>
      </p:sp>
      <p:pic>
        <p:nvPicPr>
          <p:cNvPr descr="image.png" id="274" name="Google Shape;27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flipH="1">
            <a:off x="866775" y="2673150"/>
            <a:ext cx="219075" cy="256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88625" y="2712150"/>
            <a:ext cx="219075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75" y="2552700"/>
            <a:ext cx="5334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52700"/>
            <a:ext cx="5334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3337514" y="1298625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SYSTEM USE CASES: </a:t>
            </a:r>
            <a:r>
              <a:rPr b="1" lang="en-US" sz="3150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Atleast 10% 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866775" y="2847975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Use Case 03-Manage Inventory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866775" y="3238500"/>
            <a:ext cx="4743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50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 The pharmacist/Manager adds new stock,updates quantities,and handles expired or recalled medications.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6581775" y="2847975"/>
            <a:ext cx="498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 Use Case 04-Handle Refill Request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6581775" y="3238500"/>
            <a:ext cx="4743600" cy="1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i="1" lang="en-US" sz="1350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The system automatically flags prescription due for refill,or the patient requests one,which the pharmacists approves.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mage.png" id="289" name="Google Shape;28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67025"/>
            <a:ext cx="15240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867025"/>
            <a:ext cx="219075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4"/>
          <p:cNvSpPr txBox="1"/>
          <p:nvPr/>
        </p:nvSpPr>
        <p:spPr>
          <a:xfrm>
            <a:off x="571500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ELABORATION PHASE: WEEKS 5–7</a:t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0" y="0"/>
            <a:ext cx="95250" cy="97155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71500" y="3752850"/>
            <a:ext cx="11049000" cy="381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510733" y="465579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Core Architecture</a:t>
            </a:r>
            <a:endParaRPr/>
          </a:p>
        </p:txBody>
      </p:sp>
      <p:sp>
        <p:nvSpPr>
          <p:cNvPr id="300" name="Google Shape;300;p24"/>
          <p:cNvSpPr txBox="1"/>
          <p:nvPr/>
        </p:nvSpPr>
        <p:spPr>
          <a:xfrm>
            <a:off x="571500" y="5046315"/>
            <a:ext cx="243066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Defining the layered structure and proof-of-concept.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3383413" y="276418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Detailed Use Cases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3444180" y="3154709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30% Completion: Process Sale, Add Medicine, Reports.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6256094" y="4655790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Domain Modeling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6316860" y="5046315"/>
            <a:ext cx="243066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Mapping Medicine, Prescription, and Sales relationships.</a:t>
            </a:r>
            <a:endParaRPr/>
          </a:p>
        </p:txBody>
      </p:sp>
      <p:sp>
        <p:nvSpPr>
          <p:cNvPr id="305" name="Google Shape;305;p24"/>
          <p:cNvSpPr txBox="1"/>
          <p:nvPr/>
        </p:nvSpPr>
        <p:spPr>
          <a:xfrm>
            <a:off x="9128774" y="2764184"/>
            <a:ext cx="25521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/>
          </a:p>
        </p:txBody>
      </p:sp>
      <p:sp>
        <p:nvSpPr>
          <p:cNvPr id="306" name="Google Shape;306;p24"/>
          <p:cNvSpPr txBox="1"/>
          <p:nvPr/>
        </p:nvSpPr>
        <p:spPr>
          <a:xfrm>
            <a:off x="9189541" y="3154709"/>
            <a:ext cx="24306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7474F"/>
                </a:solidFill>
                <a:latin typeface="Inter"/>
                <a:ea typeface="Inter"/>
                <a:cs typeface="Inter"/>
                <a:sym typeface="Inter"/>
              </a:rPr>
              <a:t>Partial implementation of 'Process Sale' logic.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1691580" y="41529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4564260" y="41529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7436941" y="41529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10309621" y="41529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0796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295275" y="2033587"/>
            <a:ext cx="116014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796B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571500" y="34909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4D40"/>
                </a:solidFill>
                <a:latin typeface="Inter"/>
                <a:ea typeface="Inter"/>
                <a:cs typeface="Inter"/>
                <a:sym typeface="Inter"/>
              </a:rPr>
              <a:t>Thank you for your attention!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571500" y="4633912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CSC 4630 | Group 20 | Advanced Software Engineering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