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10515600" cy="365760"/>
          </a:xfrm>
          <a:prstGeom prst="rect">
            <a:avLst/>
          </a:prstGeom>
          <a:noFill/>
        </p:spPr>
        <p:txBody>
          <a:bodyPr wrap="none">
            <a:spAutoFit/>
          </a:bodyPr>
          <a:lstStyle/>
          <a:p>
            <a:pPr algn="l"/>
            <a:r>
              <a:rPr sz="1400" b="1">
                <a:solidFill>
                  <a:srgbClr val="1A7A6D"/>
                </a:solidFill>
                <a:latin typeface="Calibri"/>
              </a:rPr>
              <a:t>CSC 4630  ·  ADVANCED SOFTWARE ENGINEERING  ·  GROUP 20</a:t>
            </a:r>
          </a:p>
        </p:txBody>
      </p:sp>
      <p:sp>
        <p:nvSpPr>
          <p:cNvPr id="5" name="TextBox 4"/>
          <p:cNvSpPr txBox="1"/>
          <p:nvPr/>
        </p:nvSpPr>
        <p:spPr>
          <a:xfrm>
            <a:off x="822960" y="1920240"/>
            <a:ext cx="10515600" cy="1463040"/>
          </a:xfrm>
          <a:prstGeom prst="rect">
            <a:avLst/>
          </a:prstGeom>
          <a:noFill/>
        </p:spPr>
        <p:txBody>
          <a:bodyPr wrap="none">
            <a:spAutoFit/>
          </a:bodyPr>
          <a:lstStyle/>
          <a:p>
            <a:pPr algn="l"/>
            <a:r>
              <a:rPr sz="4000" b="1">
                <a:solidFill>
                  <a:srgbClr val="FFFFFF"/>
                </a:solidFill>
                <a:latin typeface="Calibri"/>
              </a:rPr>
              <a:t>Pharmacy Point-of-Sale System</a:t>
            </a:r>
          </a:p>
        </p:txBody>
      </p:sp>
      <p:sp>
        <p:nvSpPr>
          <p:cNvPr id="6" name="TextBox 5"/>
          <p:cNvSpPr txBox="1"/>
          <p:nvPr/>
        </p:nvSpPr>
        <p:spPr>
          <a:xfrm>
            <a:off x="822960" y="3383280"/>
            <a:ext cx="10515600" cy="548640"/>
          </a:xfrm>
          <a:prstGeom prst="rect">
            <a:avLst/>
          </a:prstGeom>
          <a:noFill/>
        </p:spPr>
        <p:txBody>
          <a:bodyPr wrap="none">
            <a:spAutoFit/>
          </a:bodyPr>
          <a:lstStyle/>
          <a:p>
            <a:pPr algn="l"/>
            <a:r>
              <a:rPr sz="2000" b="0">
                <a:solidFill>
                  <a:srgbClr val="E6F3F1"/>
                </a:solidFill>
                <a:latin typeface="Calibri"/>
              </a:rPr>
              <a:t>Final presentation  ·  Unified Process  ·  Analysis and design</a:t>
            </a:r>
          </a:p>
        </p:txBody>
      </p:sp>
      <p:sp>
        <p:nvSpPr>
          <p:cNvPr id="7" name="TextBox 6"/>
          <p:cNvSpPr txBox="1"/>
          <p:nvPr/>
        </p:nvSpPr>
        <p:spPr>
          <a:xfrm>
            <a:off x="822960" y="4297680"/>
            <a:ext cx="10515600" cy="1645920"/>
          </a:xfrm>
          <a:prstGeom prst="rect">
            <a:avLst/>
          </a:prstGeom>
          <a:noFill/>
        </p:spPr>
        <p:txBody>
          <a:bodyPr wrap="none">
            <a:spAutoFit/>
          </a:bodyPr>
          <a:lstStyle/>
          <a:p>
            <a:pPr algn="l"/>
            <a:r>
              <a:rPr sz="1600" b="0">
                <a:solidFill>
                  <a:srgbClr val="FFFFFF"/>
                </a:solidFill>
                <a:latin typeface="Calibri"/>
              </a:rPr>
              <a:t>University: [University Name]    Lecturer: [Lecturer Name]</a:t>
            </a:r>
          </a:p>
          <a:p>
            <a:pPr algn="l"/>
            <a:r>
              <a:rPr sz="1600" b="0">
                <a:solidFill>
                  <a:srgbClr val="FFFFFF"/>
                </a:solidFill>
                <a:latin typeface="Calibri"/>
              </a:rPr>
              <a:t>System roles: Administrator  ·  Pharmacist/Cashier (no separate Cashier)</a:t>
            </a:r>
          </a:p>
          <a:p>
            <a:pPr algn="l"/>
            <a:r>
              <a:rPr sz="1600" b="0">
                <a:solidFill>
                  <a:srgbClr val="FFFFFF"/>
                </a:solidFill>
                <a:latin typeface="Calibri"/>
              </a:rPr>
              <a:t>Implementation has not started — documentation and design only</a:t>
            </a:r>
          </a:p>
          <a:p>
            <a:pPr algn="l"/>
            <a:r>
              <a:rPr sz="1600" b="0">
                <a:solidFill>
                  <a:srgbClr val="FFFFFF"/>
                </a:solidFill>
                <a:latin typeface="Calibri"/>
              </a:rPr>
              <a:t>September 2026</a:t>
            </a:r>
          </a:p>
        </p:txBody>
      </p:sp>
      <p:sp>
        <p:nvSpPr>
          <p:cNvPr id="8" name="TextBox 7"/>
          <p:cNvSpPr txBox="1"/>
          <p:nvPr/>
        </p:nvSpPr>
        <p:spPr>
          <a:xfrm>
            <a:off x="822960" y="6217920"/>
            <a:ext cx="10058400" cy="274320"/>
          </a:xfrm>
          <a:prstGeom prst="rect">
            <a:avLst/>
          </a:prstGeom>
          <a:noFill/>
        </p:spPr>
        <p:txBody>
          <a:bodyPr wrap="none">
            <a:spAutoFit/>
          </a:bodyPr>
          <a:lstStyle/>
          <a:p>
            <a:pPr algn="l"/>
            <a:r>
              <a:rPr sz="1200" b="0">
                <a:solidFill>
                  <a:srgbClr val="E6F3F1"/>
                </a:solidFill>
                <a:latin typeface="Calibri"/>
              </a:rPr>
              <a:t>1 / 35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WEEKS 1–2  ·  INCEPTION</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Problem statement</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2 / 35</a:t>
            </a:r>
          </a:p>
        </p:txBody>
      </p:sp>
      <p:sp>
        <p:nvSpPr>
          <p:cNvPr id="8" name="TextBox 7"/>
          <p:cNvSpPr txBox="1"/>
          <p:nvPr/>
        </p:nvSpPr>
        <p:spPr>
          <a:xfrm>
            <a:off x="548640" y="1325880"/>
            <a:ext cx="11064240" cy="2011680"/>
          </a:xfrm>
          <a:prstGeom prst="rect">
            <a:avLst/>
          </a:prstGeom>
          <a:noFill/>
        </p:spPr>
        <p:txBody>
          <a:bodyPr wrap="none">
            <a:spAutoFit/>
          </a:bodyPr>
          <a:lstStyle/>
          <a:p>
            <a:pPr algn="l"/>
            <a:r>
              <a:rPr sz="1600" b="0">
                <a:solidFill>
                  <a:srgbClr val="1A2332"/>
                </a:solidFill>
                <a:latin typeface="Calibri"/>
              </a:rPr>
              <a:t>Many small and medium pharmacies in Zambia still combine paper registers, memory, and generic retail tools that were not designed for medicines. That mix produces four recurring failures: expired packs can be sold; life-saving lines run out without a reliable warning; prices and receipts are inconsistent; and there is a weak audit trail when a regulator or owner asks who sold or adjusted a batch. A generic supermarke…</a:t>
            </a:r>
          </a:p>
        </p:txBody>
      </p:sp>
      <p:sp>
        <p:nvSpPr>
          <p:cNvPr id="9" name="Rounded Rectangle 8"/>
          <p:cNvSpPr/>
          <p:nvPr/>
        </p:nvSpPr>
        <p:spPr>
          <a:xfrm>
            <a:off x="502920" y="3657600"/>
            <a:ext cx="2743200" cy="21945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794760"/>
            <a:ext cx="2468880" cy="1920240"/>
          </a:xfrm>
          <a:prstGeom prst="rect">
            <a:avLst/>
          </a:prstGeom>
          <a:noFill/>
        </p:spPr>
        <p:txBody>
          <a:bodyPr wrap="square">
            <a:spAutoFit/>
          </a:bodyPr>
          <a:lstStyle/>
          <a:p>
            <a:pPr algn="l"/>
            <a:r>
              <a:rPr sz="1600" b="1">
                <a:solidFill>
                  <a:srgbClr val="0D3B4C"/>
                </a:solidFill>
                <a:latin typeface="Calibri"/>
              </a:rPr>
              <a:t>Expired stock</a:t>
            </a:r>
          </a:p>
          <a:p>
            <a:r>
              <a:rPr sz="1300">
                <a:solidFill>
                  <a:srgbClr val="1A2332"/>
                </a:solidFill>
              </a:rPr>
              <a:t>Paper and memory let expired packs reach a customer.</a:t>
            </a:r>
          </a:p>
        </p:txBody>
      </p:sp>
      <p:sp>
        <p:nvSpPr>
          <p:cNvPr id="11" name="Rounded Rectangle 10"/>
          <p:cNvSpPr/>
          <p:nvPr/>
        </p:nvSpPr>
        <p:spPr>
          <a:xfrm>
            <a:off x="3383280" y="3657600"/>
            <a:ext cx="2743200" cy="21945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39" y="3794760"/>
            <a:ext cx="2468880" cy="1920240"/>
          </a:xfrm>
          <a:prstGeom prst="rect">
            <a:avLst/>
          </a:prstGeom>
          <a:noFill/>
        </p:spPr>
        <p:txBody>
          <a:bodyPr wrap="square">
            <a:spAutoFit/>
          </a:bodyPr>
          <a:lstStyle/>
          <a:p>
            <a:pPr algn="l"/>
            <a:r>
              <a:rPr sz="1600" b="1">
                <a:solidFill>
                  <a:srgbClr val="0D3B4C"/>
                </a:solidFill>
                <a:latin typeface="Calibri"/>
              </a:rPr>
              <a:t>False availability</a:t>
            </a:r>
          </a:p>
          <a:p>
            <a:r>
              <a:rPr sz="1300">
                <a:solidFill>
                  <a:srgbClr val="1A2332"/>
                </a:solidFill>
              </a:rPr>
              <a:t>A medicine is promised that the shelf no longer has.</a:t>
            </a:r>
          </a:p>
        </p:txBody>
      </p:sp>
      <p:sp>
        <p:nvSpPr>
          <p:cNvPr id="13" name="Rounded Rectangle 12"/>
          <p:cNvSpPr/>
          <p:nvPr/>
        </p:nvSpPr>
        <p:spPr>
          <a:xfrm>
            <a:off x="6263640" y="3657600"/>
            <a:ext cx="2743200" cy="21945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794760"/>
            <a:ext cx="2468880" cy="1920240"/>
          </a:xfrm>
          <a:prstGeom prst="rect">
            <a:avLst/>
          </a:prstGeom>
          <a:noFill/>
        </p:spPr>
        <p:txBody>
          <a:bodyPr wrap="square">
            <a:spAutoFit/>
          </a:bodyPr>
          <a:lstStyle/>
          <a:p>
            <a:pPr algn="l"/>
            <a:r>
              <a:rPr sz="1600" b="1">
                <a:solidFill>
                  <a:srgbClr val="0D3B4C"/>
                </a:solidFill>
                <a:latin typeface="Calibri"/>
              </a:rPr>
              <a:t>Weak audit</a:t>
            </a:r>
          </a:p>
          <a:p>
            <a:r>
              <a:rPr sz="1300">
                <a:solidFill>
                  <a:srgbClr val="1A2332"/>
                </a:solidFill>
              </a:rPr>
              <a:t>Nobody can show who sold or adjusted a batch.</a:t>
            </a:r>
          </a:p>
        </p:txBody>
      </p:sp>
      <p:sp>
        <p:nvSpPr>
          <p:cNvPr id="15" name="Rounded Rectangle 14"/>
          <p:cNvSpPr/>
          <p:nvPr/>
        </p:nvSpPr>
        <p:spPr>
          <a:xfrm>
            <a:off x="9144000" y="3657600"/>
            <a:ext cx="2743200" cy="21945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81159" y="3794760"/>
            <a:ext cx="2468880" cy="1920240"/>
          </a:xfrm>
          <a:prstGeom prst="rect">
            <a:avLst/>
          </a:prstGeom>
          <a:noFill/>
        </p:spPr>
        <p:txBody>
          <a:bodyPr wrap="square">
            <a:spAutoFit/>
          </a:bodyPr>
          <a:lstStyle/>
          <a:p>
            <a:pPr algn="l"/>
            <a:r>
              <a:rPr sz="1600" b="1">
                <a:solidFill>
                  <a:srgbClr val="0D3B4C"/>
                </a:solidFill>
                <a:latin typeface="Calibri"/>
              </a:rPr>
              <a:t>Wrong product shape</a:t>
            </a:r>
          </a:p>
          <a:p>
            <a:r>
              <a:rPr sz="1300">
                <a:solidFill>
                  <a:srgbClr val="1A2332"/>
                </a:solidFill>
              </a:rPr>
              <a:t>A supermarket till has no prescription or batch expiry.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INCEPTION</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Business case</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3 / 35</a:t>
            </a:r>
          </a:p>
        </p:txBody>
      </p:sp>
      <p:sp>
        <p:nvSpPr>
          <p:cNvPr id="8" name="Rounded Rectangle 7"/>
          <p:cNvSpPr/>
          <p:nvPr/>
        </p:nvSpPr>
        <p:spPr>
          <a:xfrm>
            <a:off x="457200" y="1463040"/>
            <a:ext cx="2788920" cy="420624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91640"/>
            <a:ext cx="2468880" cy="3840480"/>
          </a:xfrm>
          <a:prstGeom prst="rect">
            <a:avLst/>
          </a:prstGeom>
          <a:noFill/>
        </p:spPr>
        <p:txBody>
          <a:bodyPr wrap="square">
            <a:spAutoFit/>
          </a:bodyPr>
          <a:lstStyle/>
          <a:p>
            <a:pPr algn="l"/>
            <a:r>
              <a:rPr sz="1800" b="1">
                <a:solidFill>
                  <a:srgbClr val="1A7A6D"/>
                </a:solidFill>
                <a:latin typeface="Calibri"/>
              </a:rPr>
              <a:t>Operational</a:t>
            </a:r>
          </a:p>
          <a:p>
            <a:r>
              <a:rPr sz="1500">
                <a:solidFill>
                  <a:srgbClr val="1A2332"/>
                </a:solidFill>
              </a:rPr>
              <a:t>
Accurate sale + matching batch update. Receipts that match the till.</a:t>
            </a:r>
          </a:p>
        </p:txBody>
      </p:sp>
      <p:sp>
        <p:nvSpPr>
          <p:cNvPr id="10" name="Rounded Rectangle 9"/>
          <p:cNvSpPr/>
          <p:nvPr/>
        </p:nvSpPr>
        <p:spPr>
          <a:xfrm>
            <a:off x="3383280" y="1463040"/>
            <a:ext cx="2788920" cy="420624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691640"/>
            <a:ext cx="2468880" cy="3840480"/>
          </a:xfrm>
          <a:prstGeom prst="rect">
            <a:avLst/>
          </a:prstGeom>
          <a:noFill/>
        </p:spPr>
        <p:txBody>
          <a:bodyPr wrap="square">
            <a:spAutoFit/>
          </a:bodyPr>
          <a:lstStyle/>
          <a:p>
            <a:pPr algn="l"/>
            <a:r>
              <a:rPr sz="1800" b="1">
                <a:solidFill>
                  <a:srgbClr val="1A7A6D"/>
                </a:solidFill>
                <a:latin typeface="Calibri"/>
              </a:rPr>
              <a:t>Strategic</a:t>
            </a:r>
          </a:p>
          <a:p>
            <a:r>
              <a:rPr sz="1500">
                <a:solidFill>
                  <a:srgbClr val="1A2332"/>
                </a:solidFill>
              </a:rPr>
              <a:t>
Expiry control and prescription recording become ordinary work, not a later panic.</a:t>
            </a:r>
          </a:p>
        </p:txBody>
      </p:sp>
      <p:sp>
        <p:nvSpPr>
          <p:cNvPr id="12" name="Rounded Rectangle 11"/>
          <p:cNvSpPr/>
          <p:nvPr/>
        </p:nvSpPr>
        <p:spPr>
          <a:xfrm>
            <a:off x="6309360" y="1463040"/>
            <a:ext cx="2788920" cy="420624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691640"/>
            <a:ext cx="2468880" cy="3840480"/>
          </a:xfrm>
          <a:prstGeom prst="rect">
            <a:avLst/>
          </a:prstGeom>
          <a:noFill/>
        </p:spPr>
        <p:txBody>
          <a:bodyPr wrap="square">
            <a:spAutoFit/>
          </a:bodyPr>
          <a:lstStyle/>
          <a:p>
            <a:pPr algn="l"/>
            <a:r>
              <a:rPr sz="1800" b="1">
                <a:solidFill>
                  <a:srgbClr val="1A7A6D"/>
                </a:solidFill>
                <a:latin typeface="Calibri"/>
              </a:rPr>
              <a:t>Financial</a:t>
            </a:r>
          </a:p>
          <a:p>
            <a:r>
              <a:rPr sz="1500">
                <a:solidFill>
                  <a:srgbClr val="1A2332"/>
                </a:solidFill>
              </a:rPr>
              <a:t>
Less wasted stock and less time reconstructing a day's takings. No invented ROI %.</a:t>
            </a:r>
          </a:p>
        </p:txBody>
      </p:sp>
      <p:sp>
        <p:nvSpPr>
          <p:cNvPr id="14" name="Rounded Rectangle 13"/>
          <p:cNvSpPr/>
          <p:nvPr/>
        </p:nvSpPr>
        <p:spPr>
          <a:xfrm>
            <a:off x="9235440" y="1463040"/>
            <a:ext cx="2788920" cy="4206240"/>
          </a:xfrm>
          <a:prstGeom prst="roundRect">
            <a:avLst>
              <a:gd name="adj" fmla="val 8000"/>
            </a:avLst>
          </a:prstGeom>
          <a:solidFill>
            <a:srgbClr val="F4EFE6"/>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0" y="1691640"/>
            <a:ext cx="2468880" cy="3840480"/>
          </a:xfrm>
          <a:prstGeom prst="rect">
            <a:avLst/>
          </a:prstGeom>
          <a:noFill/>
        </p:spPr>
        <p:txBody>
          <a:bodyPr wrap="square">
            <a:spAutoFit/>
          </a:bodyPr>
          <a:lstStyle/>
          <a:p>
            <a:pPr algn="l"/>
            <a:r>
              <a:rPr sz="1800" b="1">
                <a:solidFill>
                  <a:srgbClr val="1A7A6D"/>
                </a:solidFill>
                <a:latin typeface="Calibri"/>
              </a:rPr>
              <a:t>Boundary</a:t>
            </a:r>
          </a:p>
          <a:p>
            <a:r>
              <a:rPr sz="1500">
                <a:solidFill>
                  <a:srgbClr val="1A2332"/>
                </a:solidFill>
              </a:rPr>
              <a:t>
NHIMA claims and e-commerce would be a different system. They stay out.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INCEPTION</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Vision and objectives</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4 / 35</a:t>
            </a:r>
          </a:p>
        </p:txBody>
      </p:sp>
      <p:sp>
        <p:nvSpPr>
          <p:cNvPr id="8" name="TextBox 7"/>
          <p:cNvSpPr txBox="1"/>
          <p:nvPr/>
        </p:nvSpPr>
        <p:spPr>
          <a:xfrm>
            <a:off x="548640" y="1325880"/>
            <a:ext cx="11155680" cy="1371600"/>
          </a:xfrm>
          <a:prstGeom prst="rect">
            <a:avLst/>
          </a:prstGeom>
          <a:noFill/>
        </p:spPr>
        <p:txBody>
          <a:bodyPr wrap="square">
            <a:spAutoFit/>
          </a:bodyPr>
          <a:lstStyle/>
          <a:p>
            <a:pPr algn="l"/>
            <a:r>
              <a:rPr sz="1600" b="0">
                <a:solidFill>
                  <a:srgbClr val="1A2332"/>
                </a:solidFill>
                <a:latin typeface="Calibri"/>
              </a:rPr>
              <a:t>A pharmacy-specific point-of-sale system in which the Pharmacist runs the counter (search, sale, prescription capture, payment, receipt) and the Administrator runs the office (catalogue, stock, users, suppliers, reports). The system makes the dangerous path — selling expired or untracked medicine — hard, and the routine path — a correct paid sale — fast enough for a busy counter.</a:t>
            </a:r>
          </a:p>
        </p:txBody>
      </p:sp>
      <p:sp>
        <p:nvSpPr>
          <p:cNvPr id="9" name="Rounded Rectangle 8"/>
          <p:cNvSpPr/>
          <p:nvPr/>
        </p:nvSpPr>
        <p:spPr>
          <a:xfrm>
            <a:off x="502920" y="2880360"/>
            <a:ext cx="5623560" cy="68580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990088"/>
            <a:ext cx="5349240" cy="502920"/>
          </a:xfrm>
          <a:prstGeom prst="rect">
            <a:avLst/>
          </a:prstGeom>
          <a:noFill/>
        </p:spPr>
        <p:txBody>
          <a:bodyPr wrap="none">
            <a:spAutoFit/>
          </a:bodyPr>
          <a:lstStyle/>
          <a:p>
            <a:pPr algn="l"/>
            <a:r>
              <a:rPr sz="1200" b="0">
                <a:solidFill>
                  <a:srgbClr val="0D3B4C"/>
                </a:solidFill>
                <a:latin typeface="Calibri"/>
              </a:rPr>
              <a:t>BO-01  Prevent sale of expired or insufficiently stocked medicine.</a:t>
            </a:r>
          </a:p>
        </p:txBody>
      </p:sp>
      <p:sp>
        <p:nvSpPr>
          <p:cNvPr id="11" name="Rounded Rectangle 10"/>
          <p:cNvSpPr/>
          <p:nvPr/>
        </p:nvSpPr>
        <p:spPr>
          <a:xfrm>
            <a:off x="502920" y="3657600"/>
            <a:ext cx="5623560" cy="68580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767328"/>
            <a:ext cx="5349240" cy="502920"/>
          </a:xfrm>
          <a:prstGeom prst="rect">
            <a:avLst/>
          </a:prstGeom>
          <a:noFill/>
        </p:spPr>
        <p:txBody>
          <a:bodyPr wrap="none">
            <a:spAutoFit/>
          </a:bodyPr>
          <a:lstStyle/>
          <a:p>
            <a:pPr algn="l"/>
            <a:r>
              <a:rPr sz="1200" b="0">
                <a:solidFill>
                  <a:srgbClr val="0D3B4C"/>
                </a:solidFill>
                <a:latin typeface="Calibri"/>
              </a:rPr>
              <a:t>BO-02  Complete counter sales accurately with a printed or viewable receipt.</a:t>
            </a:r>
          </a:p>
        </p:txBody>
      </p:sp>
      <p:sp>
        <p:nvSpPr>
          <p:cNvPr id="13" name="Rounded Rectangle 12"/>
          <p:cNvSpPr/>
          <p:nvPr/>
        </p:nvSpPr>
        <p:spPr>
          <a:xfrm>
            <a:off x="502920" y="4434840"/>
            <a:ext cx="5623560" cy="68580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544568"/>
            <a:ext cx="5349240" cy="502920"/>
          </a:xfrm>
          <a:prstGeom prst="rect">
            <a:avLst/>
          </a:prstGeom>
          <a:noFill/>
        </p:spPr>
        <p:txBody>
          <a:bodyPr wrap="none">
            <a:spAutoFit/>
          </a:bodyPr>
          <a:lstStyle/>
          <a:p>
            <a:pPr algn="l"/>
            <a:r>
              <a:rPr sz="1200" b="0">
                <a:solidFill>
                  <a:srgbClr val="0D3B4C"/>
                </a:solidFill>
                <a:latin typeface="Calibri"/>
              </a:rPr>
              <a:t>BO-03  Keep inventory quantities consistent with sales and stock movements.</a:t>
            </a:r>
          </a:p>
        </p:txBody>
      </p:sp>
      <p:sp>
        <p:nvSpPr>
          <p:cNvPr id="15" name="Rounded Rectangle 14"/>
          <p:cNvSpPr/>
          <p:nvPr/>
        </p:nvSpPr>
        <p:spPr>
          <a:xfrm>
            <a:off x="502920" y="5212079"/>
            <a:ext cx="5623560" cy="68580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321807"/>
            <a:ext cx="5349240" cy="502920"/>
          </a:xfrm>
          <a:prstGeom prst="rect">
            <a:avLst/>
          </a:prstGeom>
          <a:noFill/>
        </p:spPr>
        <p:txBody>
          <a:bodyPr wrap="none">
            <a:spAutoFit/>
          </a:bodyPr>
          <a:lstStyle/>
          <a:p>
            <a:pPr algn="l"/>
            <a:r>
              <a:rPr sz="1200" b="0">
                <a:solidFill>
                  <a:srgbClr val="0D3B4C"/>
                </a:solidFill>
                <a:latin typeface="Calibri"/>
              </a:rPr>
              <a:t>BO-04  Support prescription-linked dispensing without creating extra user roles.</a:t>
            </a:r>
          </a:p>
        </p:txBody>
      </p:sp>
      <p:sp>
        <p:nvSpPr>
          <p:cNvPr id="17" name="Rounded Rectangle 16"/>
          <p:cNvSpPr/>
          <p:nvPr/>
        </p:nvSpPr>
        <p:spPr>
          <a:xfrm>
            <a:off x="6309360" y="2880360"/>
            <a:ext cx="5623560" cy="68580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990088"/>
            <a:ext cx="5349240" cy="502920"/>
          </a:xfrm>
          <a:prstGeom prst="rect">
            <a:avLst/>
          </a:prstGeom>
          <a:noFill/>
        </p:spPr>
        <p:txBody>
          <a:bodyPr wrap="none">
            <a:spAutoFit/>
          </a:bodyPr>
          <a:lstStyle/>
          <a:p>
            <a:pPr algn="l"/>
            <a:r>
              <a:rPr sz="1200" b="0">
                <a:solidFill>
                  <a:srgbClr val="0D3B4C"/>
                </a:solidFill>
                <a:latin typeface="Calibri"/>
              </a:rPr>
              <a:t>BO-05  Give the Administrator reliable catalogue, stock, user, and report control.</a:t>
            </a:r>
          </a:p>
        </p:txBody>
      </p:sp>
      <p:sp>
        <p:nvSpPr>
          <p:cNvPr id="19" name="Rounded Rectangle 18"/>
          <p:cNvSpPr/>
          <p:nvPr/>
        </p:nvSpPr>
        <p:spPr>
          <a:xfrm>
            <a:off x="6309360" y="3657600"/>
            <a:ext cx="5623560" cy="68580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767328"/>
            <a:ext cx="5349240" cy="502920"/>
          </a:xfrm>
          <a:prstGeom prst="rect">
            <a:avLst/>
          </a:prstGeom>
          <a:noFill/>
        </p:spPr>
        <p:txBody>
          <a:bodyPr wrap="none">
            <a:spAutoFit/>
          </a:bodyPr>
          <a:lstStyle/>
          <a:p>
            <a:pPr algn="l"/>
            <a:r>
              <a:rPr sz="1200" b="0">
                <a:solidFill>
                  <a:srgbClr val="0D3B4C"/>
                </a:solidFill>
                <a:latin typeface="Calibri"/>
              </a:rPr>
              <a:t>BO-06  Leave an audit trail for sales, voids, stock adjustments, and user changes.</a:t>
            </a:r>
          </a:p>
        </p:txBody>
      </p:sp>
      <p:sp>
        <p:nvSpPr>
          <p:cNvPr id="21" name="Rounded Rectangle 20"/>
          <p:cNvSpPr/>
          <p:nvPr/>
        </p:nvSpPr>
        <p:spPr>
          <a:xfrm>
            <a:off x="6309360" y="4434840"/>
            <a:ext cx="5623560" cy="68580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44568"/>
            <a:ext cx="5349240" cy="502920"/>
          </a:xfrm>
          <a:prstGeom prst="rect">
            <a:avLst/>
          </a:prstGeom>
          <a:noFill/>
        </p:spPr>
        <p:txBody>
          <a:bodyPr wrap="none">
            <a:spAutoFit/>
          </a:bodyPr>
          <a:lstStyle/>
          <a:p>
            <a:pPr algn="l"/>
            <a:r>
              <a:rPr sz="1200" b="0">
                <a:solidFill>
                  <a:srgbClr val="0D3B4C"/>
                </a:solidFill>
                <a:latin typeface="Calibri"/>
              </a:rPr>
              <a:t>BO-07  Fit a 15-week UP schedule with architecture proven before construction.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INCEPTION</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System scope</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5 / 35</a:t>
            </a:r>
          </a:p>
        </p:txBody>
      </p:sp>
      <p:sp>
        <p:nvSpPr>
          <p:cNvPr id="8" name="Rounded Rectangle 7"/>
          <p:cNvSpPr/>
          <p:nvPr/>
        </p:nvSpPr>
        <p:spPr>
          <a:xfrm>
            <a:off x="457200" y="1371600"/>
            <a:ext cx="5486400" cy="475488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371600"/>
            <a:ext cx="5486400" cy="4754880"/>
          </a:xfrm>
          <a:prstGeom prst="roundRect">
            <a:avLst>
              <a:gd name="adj" fmla="val 8000"/>
            </a:avLst>
          </a:prstGeom>
          <a:solidFill>
            <a:srgbClr val="F4EFE6"/>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508760"/>
            <a:ext cx="5120640" cy="365760"/>
          </a:xfrm>
          <a:prstGeom prst="rect">
            <a:avLst/>
          </a:prstGeom>
          <a:noFill/>
        </p:spPr>
        <p:txBody>
          <a:bodyPr wrap="none">
            <a:spAutoFit/>
          </a:bodyPr>
          <a:lstStyle/>
          <a:p>
            <a:pPr algn="l"/>
            <a:r>
              <a:rPr sz="2000" b="1">
                <a:solidFill>
                  <a:srgbClr val="1A7A6D"/>
                </a:solidFill>
                <a:latin typeface="Calibri"/>
              </a:rPr>
              <a:t>In scope</a:t>
            </a:r>
          </a:p>
        </p:txBody>
      </p:sp>
      <p:sp>
        <p:nvSpPr>
          <p:cNvPr id="11" name="TextBox 10"/>
          <p:cNvSpPr txBox="1"/>
          <p:nvPr/>
        </p:nvSpPr>
        <p:spPr>
          <a:xfrm>
            <a:off x="640080" y="1965960"/>
            <a:ext cx="5120640" cy="3931920"/>
          </a:xfrm>
          <a:prstGeom prst="rect">
            <a:avLst/>
          </a:prstGeom>
          <a:noFill/>
        </p:spPr>
        <p:txBody>
          <a:bodyPr wrap="square">
            <a:spAutoFit/>
          </a:bodyPr>
          <a:lstStyle/>
          <a:p>
            <a:pPr algn="l"/>
            <a:r>
              <a:rPr sz="1300" b="0">
                <a:solidFill>
                  <a:srgbClr val="1A2332"/>
                </a:solidFill>
                <a:latin typeface="Calibri"/>
              </a:rPr>
              <a:t>•  Authentication and role-based authorisation for two roles only</a:t>
            </a:r>
          </a:p>
          <a:p>
            <a:pPr algn="l"/>
            <a:r>
              <a:rPr sz="1300" b="0">
                <a:solidFill>
                  <a:srgbClr val="1A2332"/>
                </a:solidFill>
                <a:latin typeface="Calibri"/>
              </a:rPr>
              <a:t>•  Medicine catalogue maintenance</a:t>
            </a:r>
          </a:p>
          <a:p>
            <a:pPr algn="l"/>
            <a:r>
              <a:rPr sz="1300" b="0">
                <a:solidFill>
                  <a:srgbClr val="1A2332"/>
                </a:solidFill>
                <a:latin typeface="Calibri"/>
              </a:rPr>
              <a:t>•  Batch-level inventory with expiry and quantity</a:t>
            </a:r>
          </a:p>
          <a:p>
            <a:pPr algn="l"/>
            <a:r>
              <a:rPr sz="1300" b="0">
                <a:solidFill>
                  <a:srgbClr val="1A2332"/>
                </a:solidFill>
                <a:latin typeface="Calibri"/>
              </a:rPr>
              <a:t>•  Over-the-counter and prescription-linked counter sales</a:t>
            </a:r>
          </a:p>
          <a:p>
            <a:pPr algn="l"/>
            <a:r>
              <a:rPr sz="1300" b="0">
                <a:solidFill>
                  <a:srgbClr val="1A2332"/>
                </a:solidFill>
                <a:latin typeface="Calibri"/>
              </a:rPr>
              <a:t>•  Payments recorded as cash, card, or mobile money</a:t>
            </a:r>
          </a:p>
          <a:p>
            <a:pPr algn="l"/>
            <a:r>
              <a:rPr sz="1300" b="0">
                <a:solidFill>
                  <a:srgbClr val="1A2332"/>
                </a:solidFill>
                <a:latin typeface="Calibri"/>
              </a:rPr>
              <a:t>•  Receipt generation</a:t>
            </a:r>
          </a:p>
          <a:p>
            <a:pPr algn="l"/>
            <a:r>
              <a:rPr sz="1300" b="0">
                <a:solidFill>
                  <a:srgbClr val="1A2332"/>
                </a:solidFill>
                <a:latin typeface="Calibri"/>
              </a:rPr>
              <a:t>•  Sale void with reason and stock restore</a:t>
            </a:r>
          </a:p>
          <a:p>
            <a:pPr algn="l"/>
            <a:r>
              <a:rPr sz="1300" b="0">
                <a:solidFill>
                  <a:srgbClr val="1A2332"/>
                </a:solidFill>
                <a:latin typeface="Calibri"/>
              </a:rPr>
              <a:t>•  Customer record when a named patient is required</a:t>
            </a:r>
          </a:p>
        </p:txBody>
      </p:sp>
      <p:sp>
        <p:nvSpPr>
          <p:cNvPr id="12" name="TextBox 11"/>
          <p:cNvSpPr txBox="1"/>
          <p:nvPr/>
        </p:nvSpPr>
        <p:spPr>
          <a:xfrm>
            <a:off x="6400800" y="1508760"/>
            <a:ext cx="5120640" cy="365760"/>
          </a:xfrm>
          <a:prstGeom prst="rect">
            <a:avLst/>
          </a:prstGeom>
          <a:noFill/>
        </p:spPr>
        <p:txBody>
          <a:bodyPr wrap="none">
            <a:spAutoFit/>
          </a:bodyPr>
          <a:lstStyle/>
          <a:p>
            <a:pPr algn="l"/>
            <a:r>
              <a:rPr sz="2000" b="1">
                <a:solidFill>
                  <a:srgbClr val="C4A35A"/>
                </a:solidFill>
                <a:latin typeface="Calibri"/>
              </a:rPr>
              <a:t>Out of scope</a:t>
            </a:r>
          </a:p>
        </p:txBody>
      </p:sp>
      <p:sp>
        <p:nvSpPr>
          <p:cNvPr id="13" name="TextBox 12"/>
          <p:cNvSpPr txBox="1"/>
          <p:nvPr/>
        </p:nvSpPr>
        <p:spPr>
          <a:xfrm>
            <a:off x="6400800" y="1965960"/>
            <a:ext cx="5120640" cy="3931920"/>
          </a:xfrm>
          <a:prstGeom prst="rect">
            <a:avLst/>
          </a:prstGeom>
          <a:noFill/>
        </p:spPr>
        <p:txBody>
          <a:bodyPr wrap="square">
            <a:spAutoFit/>
          </a:bodyPr>
          <a:lstStyle/>
          <a:p>
            <a:pPr algn="l"/>
            <a:r>
              <a:rPr sz="1300" b="0">
                <a:solidFill>
                  <a:srgbClr val="1A2332"/>
                </a:solidFill>
                <a:latin typeface="Calibri"/>
              </a:rPr>
              <a:t>•  A separate Cashier, Manager, or Inventory Clerk user role</a:t>
            </a:r>
          </a:p>
          <a:p>
            <a:pPr algn="l"/>
            <a:r>
              <a:rPr sz="1300" b="0">
                <a:solidFill>
                  <a:srgbClr val="1A2332"/>
                </a:solidFill>
                <a:latin typeface="Calibri"/>
              </a:rPr>
              <a:t>•  Online / e-commerce ordering</a:t>
            </a:r>
          </a:p>
          <a:p>
            <a:pPr algn="l"/>
            <a:r>
              <a:rPr sz="1300" b="0">
                <a:solidFill>
                  <a:srgbClr val="1A2332"/>
                </a:solidFill>
                <a:latin typeface="Calibri"/>
              </a:rPr>
              <a:t>•  NHIMA or other insurance claim submission</a:t>
            </a:r>
          </a:p>
          <a:p>
            <a:pPr algn="l"/>
            <a:r>
              <a:rPr sz="1300" b="0">
                <a:solidFill>
                  <a:srgbClr val="1A2332"/>
                </a:solidFill>
                <a:latin typeface="Calibri"/>
              </a:rPr>
              <a:t>•  Live card or mobile-money gateway settlement (manual confirmation only)</a:t>
            </a:r>
          </a:p>
          <a:p>
            <a:pPr algn="l"/>
            <a:r>
              <a:rPr sz="1300" b="0">
                <a:solidFill>
                  <a:srgbClr val="1A2332"/>
                </a:solidFill>
                <a:latin typeface="Calibri"/>
              </a:rPr>
              <a:t>•  National electronic prescription network</a:t>
            </a:r>
          </a:p>
          <a:p>
            <a:pPr algn="l"/>
            <a:r>
              <a:rPr sz="1300" b="0">
                <a:solidFill>
                  <a:srgbClr val="1A2332"/>
                </a:solidFill>
                <a:latin typeface="Calibri"/>
              </a:rPr>
              <a:t>•  Clinical diagnosis or drug-interaction decision support</a:t>
            </a:r>
          </a:p>
          <a:p>
            <a:pPr algn="l"/>
            <a:r>
              <a:rPr sz="1300" b="0">
                <a:solidFill>
                  <a:srgbClr val="1A2332"/>
                </a:solidFill>
                <a:latin typeface="Calibri"/>
              </a:rPr>
              <a:t>•  Multi-branch warehousing and inter-store transfers</a:t>
            </a:r>
          </a:p>
          <a:p>
            <a:pPr algn="l"/>
            <a:r>
              <a:rPr sz="1300" b="0">
                <a:solidFill>
                  <a:srgbClr val="1A2332"/>
                </a:solidFill>
                <a:latin typeface="Calibri"/>
              </a:rPr>
              <a:t>•  Full accounting / general ledger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INCEPTION</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Stakeholders and actors</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6 / 35</a:t>
            </a:r>
          </a:p>
        </p:txBody>
      </p:sp>
      <p:sp>
        <p:nvSpPr>
          <p:cNvPr id="8" name="TextBox 7"/>
          <p:cNvSpPr txBox="1"/>
          <p:nvPr/>
        </p:nvSpPr>
        <p:spPr>
          <a:xfrm>
            <a:off x="502920" y="1280160"/>
            <a:ext cx="11155680" cy="640080"/>
          </a:xfrm>
          <a:prstGeom prst="rect">
            <a:avLst/>
          </a:prstGeom>
          <a:noFill/>
        </p:spPr>
        <p:txBody>
          <a:bodyPr wrap="square">
            <a:spAutoFit/>
          </a:bodyPr>
          <a:lstStyle/>
          <a:p>
            <a:pPr algn="l"/>
            <a:r>
              <a:rPr sz="1800" b="1">
                <a:solidFill>
                  <a:srgbClr val="1A7A6D"/>
                </a:solidFill>
                <a:latin typeface="Calibri"/>
              </a:rPr>
              <a:t>The Pharmacist performs the cashier function; there is no separate Cashier role.</a:t>
            </a:r>
          </a:p>
        </p:txBody>
      </p:sp>
      <p:sp>
        <p:nvSpPr>
          <p:cNvPr id="9" name="Rounded Rectangle 8"/>
          <p:cNvSpPr/>
          <p:nvPr/>
        </p:nvSpPr>
        <p:spPr>
          <a:xfrm>
            <a:off x="457200" y="2057400"/>
            <a:ext cx="5486400" cy="40233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2057400"/>
            <a:ext cx="5486400" cy="4023360"/>
          </a:xfrm>
          <a:prstGeom prst="roundRect">
            <a:avLst>
              <a:gd name="adj" fmla="val 8000"/>
            </a:avLst>
          </a:prstGeom>
          <a:solidFill>
            <a:srgbClr val="F4EFE6"/>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94560"/>
            <a:ext cx="5120640" cy="3749039"/>
          </a:xfrm>
          <a:prstGeom prst="rect">
            <a:avLst/>
          </a:prstGeom>
          <a:noFill/>
        </p:spPr>
        <p:txBody>
          <a:bodyPr wrap="square">
            <a:spAutoFit/>
          </a:bodyPr>
          <a:lstStyle/>
          <a:p>
            <a:pPr algn="l"/>
            <a:r>
              <a:rPr sz="1600" b="1">
                <a:solidFill>
                  <a:srgbClr val="0D3B4C"/>
                </a:solidFill>
                <a:latin typeface="Calibri"/>
              </a:rPr>
              <a:t>System users (accounts)</a:t>
            </a:r>
          </a:p>
          <a:p>
            <a:r>
              <a:rPr sz="1500">
                <a:solidFill>
                  <a:srgbClr val="1A2332"/>
                </a:solidFill>
              </a:rPr>
              <a:t>•  Administrator — catalogue, stock, users, suppliers, reports, settings</a:t>
            </a:r>
          </a:p>
          <a:p>
            <a:r>
              <a:rPr sz="1500">
                <a:solidFill>
                  <a:srgbClr val="1A2332"/>
                </a:solidFill>
              </a:rPr>
              <a:t>•  Pharmacist/Cashier — search, sell, prescription, payment, receipt, void</a:t>
            </a:r>
          </a:p>
        </p:txBody>
      </p:sp>
      <p:sp>
        <p:nvSpPr>
          <p:cNvPr id="12" name="TextBox 11"/>
          <p:cNvSpPr txBox="1"/>
          <p:nvPr/>
        </p:nvSpPr>
        <p:spPr>
          <a:xfrm>
            <a:off x="6400800" y="2194560"/>
            <a:ext cx="5120640" cy="3749039"/>
          </a:xfrm>
          <a:prstGeom prst="rect">
            <a:avLst/>
          </a:prstGeom>
          <a:noFill/>
        </p:spPr>
        <p:txBody>
          <a:bodyPr wrap="square">
            <a:spAutoFit/>
          </a:bodyPr>
          <a:lstStyle/>
          <a:p>
            <a:pPr algn="l"/>
            <a:r>
              <a:rPr sz="1600" b="1">
                <a:solidFill>
                  <a:srgbClr val="0D3B4C"/>
                </a:solidFill>
                <a:latin typeface="Calibri"/>
              </a:rPr>
              <a:t>External (no login)</a:t>
            </a:r>
          </a:p>
          <a:p>
            <a:r>
              <a:rPr sz="1500">
                <a:solidFill>
                  <a:srgbClr val="1A2332"/>
                </a:solidFill>
              </a:rPr>
              <a:t>•  Customer — buys; talks to the Pharmacist, not the software</a:t>
            </a:r>
          </a:p>
          <a:p>
            <a:r>
              <a:rPr sz="1500">
                <a:solidFill>
                  <a:srgbClr val="1A2332"/>
                </a:solidFill>
              </a:rPr>
              <a:t>•  Supplier — source of batches; recorded on receipts of stock</a:t>
            </a:r>
          </a:p>
          <a:p>
            <a:r>
              <a:rPr sz="1500">
                <a:solidFill>
                  <a:srgbClr val="1A2332"/>
                </a:solidFill>
              </a:rPr>
              <a:t>•  No Manager, Cashier, or Inventory Clerk account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METHODOLOGY</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Unified Process — iterative, not waterfall</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7 / 35</a:t>
            </a:r>
          </a:p>
        </p:txBody>
      </p:sp>
      <p:pic>
        <p:nvPicPr>
          <p:cNvPr id="8" name="Picture 7" descr="UP-Phases.png"/>
          <p:cNvPicPr>
            <a:picLocks noChangeAspect="1"/>
          </p:cNvPicPr>
          <p:nvPr/>
        </p:nvPicPr>
        <p:blipFill>
          <a:blip r:embed="rId2"/>
          <a:stretch>
            <a:fillRect/>
          </a:stretch>
        </p:blipFill>
        <p:spPr>
          <a:xfrm>
            <a:off x="365760" y="1234440"/>
            <a:ext cx="11430000" cy="577465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METHODOLOGY</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15-week iteration plan</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8 / 35</a:t>
            </a:r>
          </a:p>
        </p:txBody>
      </p:sp>
      <p:pic>
        <p:nvPicPr>
          <p:cNvPr id="8" name="Picture 7" descr="Iteration-Plan-15-Weeks.png"/>
          <p:cNvPicPr>
            <a:picLocks noChangeAspect="1"/>
          </p:cNvPicPr>
          <p:nvPr/>
        </p:nvPicPr>
        <p:blipFill>
          <a:blip r:embed="rId2"/>
          <a:stretch>
            <a:fillRect/>
          </a:stretch>
        </p:blipFill>
        <p:spPr>
          <a:xfrm>
            <a:off x="320040" y="1188720"/>
            <a:ext cx="11521440" cy="665797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INCEPTION  ·  10%</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Initial use cases — Process Sale</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9 / 35</a:t>
            </a:r>
          </a:p>
        </p:txBody>
      </p:sp>
      <p:pic>
        <p:nvPicPr>
          <p:cNvPr id="8" name="Picture 7" descr="UC-Inception-10-Percent.png"/>
          <p:cNvPicPr>
            <a:picLocks noChangeAspect="1"/>
          </p:cNvPicPr>
          <p:nvPr/>
        </p:nvPicPr>
        <p:blipFill>
          <a:blip r:embed="rId2"/>
          <a:stretch>
            <a:fillRect/>
          </a:stretch>
        </p:blipFill>
        <p:spPr>
          <a:xfrm>
            <a:off x="320040" y="1188720"/>
            <a:ext cx="11521440" cy="7109667"/>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ELABORATION 1  ·  30%</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Architecturally significant use cases</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10 / 35</a:t>
            </a:r>
          </a:p>
        </p:txBody>
      </p:sp>
      <p:pic>
        <p:nvPicPr>
          <p:cNvPr id="8" name="Picture 7" descr="UC-Elaboration1-30-Percent.png"/>
          <p:cNvPicPr>
            <a:picLocks noChangeAspect="1"/>
          </p:cNvPicPr>
          <p:nvPr/>
        </p:nvPicPr>
        <p:blipFill>
          <a:blip r:embed="rId2"/>
          <a:stretch>
            <a:fillRect/>
          </a:stretch>
        </p:blipFill>
        <p:spPr>
          <a:xfrm>
            <a:off x="320040" y="1188720"/>
            <a:ext cx="11521440" cy="7094333"/>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ELABORATION 1</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Detailed use case — UC-02 Process Sale</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11 / 35</a:t>
            </a:r>
          </a:p>
        </p:txBody>
      </p:sp>
      <p:sp>
        <p:nvSpPr>
          <p:cNvPr id="8" name="TextBox 7"/>
          <p:cNvSpPr txBox="1"/>
          <p:nvPr/>
        </p:nvSpPr>
        <p:spPr>
          <a:xfrm>
            <a:off x="502920" y="1280160"/>
            <a:ext cx="5577840" cy="5029200"/>
          </a:xfrm>
          <a:prstGeom prst="rect">
            <a:avLst/>
          </a:prstGeom>
          <a:noFill/>
        </p:spPr>
        <p:txBody>
          <a:bodyPr wrap="square">
            <a:spAutoFit/>
          </a:bodyPr>
          <a:lstStyle/>
          <a:p>
            <a:pPr algn="l"/>
            <a:r>
              <a:rPr sz="1600" b="1">
                <a:solidFill>
                  <a:srgbClr val="1A7A6D"/>
                </a:solidFill>
                <a:latin typeface="Calibri"/>
              </a:rPr>
              <a:t>Main success scenario (short)</a:t>
            </a:r>
          </a:p>
          <a:p>
            <a:r>
              <a:rPr sz="1500">
                <a:solidFill>
                  <a:srgbClr val="1A2332"/>
                </a:solidFill>
              </a:rPr>
              <a:t>•  makeNewSale — empty sale in progress</a:t>
            </a:r>
          </a:p>
          <a:p>
            <a:r>
              <a:rPr sz="1500">
                <a:solidFill>
                  <a:srgbClr val="1A2332"/>
                </a:solidFill>
              </a:rPr>
              <a:t>•  enterItem(medicineId, qty) — repeat</a:t>
            </a:r>
          </a:p>
          <a:p>
            <a:r>
              <a:rPr sz="1500">
                <a:solidFill>
                  <a:srgbClr val="1A2332"/>
                </a:solidFill>
              </a:rPr>
              <a:t>•  Refuse expired or short batches</a:t>
            </a:r>
          </a:p>
          <a:p>
            <a:r>
              <a:rPr sz="1500">
                <a:solidFill>
                  <a:srgbClr val="1A2332"/>
                </a:solidFill>
              </a:rPr>
              <a:t>•  attachPrescription when required</a:t>
            </a:r>
          </a:p>
          <a:p>
            <a:r>
              <a:rPr sz="1500">
                <a:solidFill>
                  <a:srgbClr val="1A2332"/>
                </a:solidFill>
              </a:rPr>
              <a:t>•  endSale — show total</a:t>
            </a:r>
          </a:p>
          <a:p>
            <a:r>
              <a:rPr sz="1500">
                <a:solidFill>
                  <a:srgbClr val="1A2332"/>
                </a:solidFill>
              </a:rPr>
              <a:t>•  makePayment(amount, method)</a:t>
            </a:r>
          </a:p>
          <a:p>
            <a:r>
              <a:rPr sz="1500">
                <a:solidFill>
                  <a:srgbClr val="1A2332"/>
                </a:solidFill>
              </a:rPr>
              <a:t>•  Stock down + receipt out</a:t>
            </a:r>
          </a:p>
        </p:txBody>
      </p:sp>
      <p:sp>
        <p:nvSpPr>
          <p:cNvPr id="9" name="TextBox 8"/>
          <p:cNvSpPr txBox="1"/>
          <p:nvPr/>
        </p:nvSpPr>
        <p:spPr>
          <a:xfrm>
            <a:off x="6309360" y="1280160"/>
            <a:ext cx="5394960" cy="5029200"/>
          </a:xfrm>
          <a:prstGeom prst="rect">
            <a:avLst/>
          </a:prstGeom>
          <a:noFill/>
        </p:spPr>
        <p:txBody>
          <a:bodyPr wrap="square">
            <a:spAutoFit/>
          </a:bodyPr>
          <a:lstStyle/>
          <a:p>
            <a:pPr algn="l"/>
            <a:r>
              <a:rPr sz="1600" b="1">
                <a:solidFill>
                  <a:srgbClr val="1A7A6D"/>
                </a:solidFill>
                <a:latin typeface="Calibri"/>
              </a:rPr>
              <a:t>Why this use case leads design</a:t>
            </a:r>
          </a:p>
          <a:p>
            <a:r>
              <a:rPr sz="1500">
                <a:solidFill>
                  <a:srgbClr val="1A2332"/>
                </a:solidFill>
              </a:rPr>
              <a:t>•  Touches money, stock, expiry, Rx, audit</a:t>
            </a:r>
          </a:p>
          <a:p>
            <a:r>
              <a:rPr sz="1500">
                <a:solidFill>
                  <a:srgbClr val="1A2332"/>
                </a:solidFill>
              </a:rPr>
              <a:t>•  Customer does not generate system events</a:t>
            </a:r>
          </a:p>
          <a:p>
            <a:r>
              <a:rPr sz="1500">
                <a:solidFill>
                  <a:srgbClr val="1A2332"/>
                </a:solidFill>
              </a:rPr>
              <a:t>•  Scan is only a technology of enterItem</a:t>
            </a:r>
          </a:p>
          <a:p>
            <a:r>
              <a:rPr sz="1500">
                <a:solidFill>
                  <a:srgbClr val="1A2332"/>
                </a:solidFill>
              </a:rPr>
              <a:t>•  Fully dressed text is in the Elaboration 1 report</a:t>
            </a:r>
          </a:p>
          <a:p>
            <a:r>
              <a:rPr sz="1500">
                <a:solidFill>
                  <a:srgbClr val="1A2332"/>
                </a:solidFill>
              </a:rPr>
              <a:t>•  Extensions cover short cash and failed persist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ELABORATION 1</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System sequence diagram — Process Sale</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12 / 35</a:t>
            </a:r>
          </a:p>
        </p:txBody>
      </p:sp>
      <p:pic>
        <p:nvPicPr>
          <p:cNvPr id="8" name="Picture 7" descr="SSD-UC02-Process-Sale.png"/>
          <p:cNvPicPr>
            <a:picLocks noChangeAspect="1"/>
          </p:cNvPicPr>
          <p:nvPr/>
        </p:nvPicPr>
        <p:blipFill>
          <a:blip r:embed="rId2"/>
          <a:stretch>
            <a:fillRect/>
          </a:stretch>
        </p:blipFill>
        <p:spPr>
          <a:xfrm>
            <a:off x="320040" y="1170432"/>
            <a:ext cx="11521440" cy="904086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ELABORATION 1</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Domain model (conceptual — no methods)</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13 / 35</a:t>
            </a:r>
          </a:p>
        </p:txBody>
      </p:sp>
      <p:pic>
        <p:nvPicPr>
          <p:cNvPr id="8" name="Picture 7" descr="Domain-Model.png"/>
          <p:cNvPicPr>
            <a:picLocks noChangeAspect="1"/>
          </p:cNvPicPr>
          <p:nvPr/>
        </p:nvPicPr>
        <p:blipFill>
          <a:blip r:embed="rId2"/>
          <a:stretch>
            <a:fillRect/>
          </a:stretch>
        </p:blipFill>
        <p:spPr>
          <a:xfrm>
            <a:off x="182880" y="1143000"/>
            <a:ext cx="11795760" cy="859579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ELABORATION 1</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Architectural proof-of-concept</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14 / 35</a:t>
            </a:r>
          </a:p>
        </p:txBody>
      </p:sp>
      <p:pic>
        <p:nvPicPr>
          <p:cNvPr id="8" name="Picture 7" descr="Layered-Architecture-PoC.png"/>
          <p:cNvPicPr>
            <a:picLocks noChangeAspect="1"/>
          </p:cNvPicPr>
          <p:nvPr/>
        </p:nvPicPr>
        <p:blipFill>
          <a:blip r:embed="rId2"/>
          <a:stretch>
            <a:fillRect/>
          </a:stretch>
        </p:blipFill>
        <p:spPr>
          <a:xfrm>
            <a:off x="274320" y="1170432"/>
            <a:ext cx="11612880" cy="809454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ELABORATION 2</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From requirements to design</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15 / 35</a:t>
            </a:r>
          </a:p>
        </p:txBody>
      </p:sp>
      <p:sp>
        <p:nvSpPr>
          <p:cNvPr id="8" name="Rounded Rectangle 7"/>
          <p:cNvSpPr/>
          <p:nvPr/>
        </p:nvSpPr>
        <p:spPr>
          <a:xfrm>
            <a:off x="457200" y="1554480"/>
            <a:ext cx="3657600" cy="19659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37360"/>
            <a:ext cx="3291840" cy="1645920"/>
          </a:xfrm>
          <a:prstGeom prst="rect">
            <a:avLst/>
          </a:prstGeom>
          <a:noFill/>
        </p:spPr>
        <p:txBody>
          <a:bodyPr wrap="square">
            <a:spAutoFit/>
          </a:bodyPr>
          <a:lstStyle/>
          <a:p>
            <a:pPr algn="l"/>
            <a:r>
              <a:rPr sz="1800" b="1">
                <a:solidFill>
                  <a:srgbClr val="0D3B4C"/>
                </a:solidFill>
                <a:latin typeface="Calibri"/>
              </a:rPr>
              <a:t>Use cases 70%</a:t>
            </a:r>
          </a:p>
          <a:p>
            <a:r>
              <a:rPr sz="1500">
                <a:solidFill>
                  <a:srgbClr val="1A2332"/>
                </a:solidFill>
              </a:rPr>
              <a:t>UC-04 to UC-10 dressed</a:t>
            </a:r>
          </a:p>
        </p:txBody>
      </p:sp>
      <p:sp>
        <p:nvSpPr>
          <p:cNvPr id="10" name="Rounded Rectangle 9"/>
          <p:cNvSpPr/>
          <p:nvPr/>
        </p:nvSpPr>
        <p:spPr>
          <a:xfrm>
            <a:off x="4297680" y="1554480"/>
            <a:ext cx="3657600" cy="19659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737360"/>
            <a:ext cx="3291840" cy="1645920"/>
          </a:xfrm>
          <a:prstGeom prst="rect">
            <a:avLst/>
          </a:prstGeom>
          <a:noFill/>
        </p:spPr>
        <p:txBody>
          <a:bodyPr wrap="square">
            <a:spAutoFit/>
          </a:bodyPr>
          <a:lstStyle/>
          <a:p>
            <a:pPr algn="l"/>
            <a:r>
              <a:rPr sz="1800" b="1">
                <a:solidFill>
                  <a:srgbClr val="0D3B4C"/>
                </a:solidFill>
                <a:latin typeface="Calibri"/>
              </a:rPr>
              <a:t>SSDs</a:t>
            </a:r>
          </a:p>
          <a:p>
            <a:r>
              <a:rPr sz="1500">
                <a:solidFill>
                  <a:srgbClr val="1A2332"/>
                </a:solidFill>
              </a:rPr>
              <a:t>Inventory and void events</a:t>
            </a:r>
          </a:p>
        </p:txBody>
      </p:sp>
      <p:sp>
        <p:nvSpPr>
          <p:cNvPr id="12" name="Rounded Rectangle 11"/>
          <p:cNvSpPr/>
          <p:nvPr/>
        </p:nvSpPr>
        <p:spPr>
          <a:xfrm>
            <a:off x="8138160" y="1554480"/>
            <a:ext cx="3657600" cy="19659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737360"/>
            <a:ext cx="3291840" cy="1645920"/>
          </a:xfrm>
          <a:prstGeom prst="rect">
            <a:avLst/>
          </a:prstGeom>
          <a:noFill/>
        </p:spPr>
        <p:txBody>
          <a:bodyPr wrap="square">
            <a:spAutoFit/>
          </a:bodyPr>
          <a:lstStyle/>
          <a:p>
            <a:pPr algn="l"/>
            <a:r>
              <a:rPr sz="1800" b="1">
                <a:solidFill>
                  <a:srgbClr val="0D3B4C"/>
                </a:solidFill>
                <a:latin typeface="Calibri"/>
              </a:rPr>
              <a:t>Responsibilities</a:t>
            </a:r>
          </a:p>
          <a:p>
            <a:r>
              <a:rPr sz="1500">
                <a:solidFill>
                  <a:srgbClr val="1A2332"/>
                </a:solidFill>
              </a:rPr>
              <a:t>GRASP on each sale operation</a:t>
            </a:r>
          </a:p>
        </p:txBody>
      </p:sp>
      <p:sp>
        <p:nvSpPr>
          <p:cNvPr id="14" name="Rounded Rectangle 13"/>
          <p:cNvSpPr/>
          <p:nvPr/>
        </p:nvSpPr>
        <p:spPr>
          <a:xfrm>
            <a:off x="457200" y="3749039"/>
            <a:ext cx="3657600" cy="19659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931920"/>
            <a:ext cx="3291840" cy="1645920"/>
          </a:xfrm>
          <a:prstGeom prst="rect">
            <a:avLst/>
          </a:prstGeom>
          <a:noFill/>
        </p:spPr>
        <p:txBody>
          <a:bodyPr wrap="square">
            <a:spAutoFit/>
          </a:bodyPr>
          <a:lstStyle/>
          <a:p>
            <a:pPr algn="l"/>
            <a:r>
              <a:rPr sz="1800" b="1">
                <a:solidFill>
                  <a:srgbClr val="0D3B4C"/>
                </a:solidFill>
                <a:latin typeface="Calibri"/>
              </a:rPr>
              <a:t>DCD</a:t>
            </a:r>
          </a:p>
          <a:p>
            <a:r>
              <a:rPr sz="1500">
                <a:solidFill>
                  <a:srgbClr val="1A2332"/>
                </a:solidFill>
              </a:rPr>
              <a:t>Methods on software classes</a:t>
            </a:r>
          </a:p>
        </p:txBody>
      </p:sp>
      <p:sp>
        <p:nvSpPr>
          <p:cNvPr id="16" name="Rounded Rectangle 15"/>
          <p:cNvSpPr/>
          <p:nvPr/>
        </p:nvSpPr>
        <p:spPr>
          <a:xfrm>
            <a:off x="4297680" y="3749039"/>
            <a:ext cx="3657600" cy="19659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3931920"/>
            <a:ext cx="3291840" cy="1645920"/>
          </a:xfrm>
          <a:prstGeom prst="rect">
            <a:avLst/>
          </a:prstGeom>
          <a:noFill/>
        </p:spPr>
        <p:txBody>
          <a:bodyPr wrap="square">
            <a:spAutoFit/>
          </a:bodyPr>
          <a:lstStyle/>
          <a:p>
            <a:pPr algn="l"/>
            <a:r>
              <a:rPr sz="1800" b="1">
                <a:solidFill>
                  <a:srgbClr val="0D3B4C"/>
                </a:solidFill>
                <a:latin typeface="Calibri"/>
              </a:rPr>
              <a:t>UI</a:t>
            </a:r>
          </a:p>
          <a:p>
            <a:r>
              <a:rPr sz="1500">
                <a:solidFill>
                  <a:srgbClr val="1A2332"/>
                </a:solidFill>
              </a:rPr>
              <a:t>Both roles, no third role</a:t>
            </a:r>
          </a:p>
        </p:txBody>
      </p:sp>
      <p:sp>
        <p:nvSpPr>
          <p:cNvPr id="18" name="Rounded Rectangle 17"/>
          <p:cNvSpPr/>
          <p:nvPr/>
        </p:nvSpPr>
        <p:spPr>
          <a:xfrm>
            <a:off x="8138160" y="3749039"/>
            <a:ext cx="3657600" cy="19659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3931920"/>
            <a:ext cx="3291840" cy="1645920"/>
          </a:xfrm>
          <a:prstGeom prst="rect">
            <a:avLst/>
          </a:prstGeom>
          <a:noFill/>
        </p:spPr>
        <p:txBody>
          <a:bodyPr wrap="square">
            <a:spAutoFit/>
          </a:bodyPr>
          <a:lstStyle/>
          <a:p>
            <a:pPr algn="l"/>
            <a:r>
              <a:rPr sz="1800" b="1">
                <a:solidFill>
                  <a:srgbClr val="0D3B4C"/>
                </a:solidFill>
                <a:latin typeface="Calibri"/>
              </a:rPr>
              <a:t>Schema</a:t>
            </a:r>
          </a:p>
          <a:p>
            <a:r>
              <a:rPr sz="1500">
                <a:solidFill>
                  <a:srgbClr val="1A2332"/>
                </a:solidFill>
              </a:rPr>
              <a:t>3NF + sale price copy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ELABORATION 2</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Complete use-case model</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16 / 35</a:t>
            </a:r>
          </a:p>
        </p:txBody>
      </p:sp>
      <p:pic>
        <p:nvPicPr>
          <p:cNvPr id="8" name="Picture 7" descr="UC-Complete.png"/>
          <p:cNvPicPr>
            <a:picLocks noChangeAspect="1"/>
          </p:cNvPicPr>
          <p:nvPr/>
        </p:nvPicPr>
        <p:blipFill>
          <a:blip r:embed="rId2"/>
          <a:stretch>
            <a:fillRect/>
          </a:stretch>
        </p:blipFill>
        <p:spPr>
          <a:xfrm>
            <a:off x="228600" y="1143000"/>
            <a:ext cx="11704320" cy="794744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ELABORATION 2</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Design class diagram — Process Sale</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17 / 35</a:t>
            </a:r>
          </a:p>
        </p:txBody>
      </p:sp>
      <p:pic>
        <p:nvPicPr>
          <p:cNvPr id="8" name="Picture 7" descr="DCD-Process-Sale.png"/>
          <p:cNvPicPr>
            <a:picLocks noChangeAspect="1"/>
          </p:cNvPicPr>
          <p:nvPr/>
        </p:nvPicPr>
        <p:blipFill>
          <a:blip r:embed="rId2"/>
          <a:stretch>
            <a:fillRect/>
          </a:stretch>
        </p:blipFill>
        <p:spPr>
          <a:xfrm>
            <a:off x="182880" y="1143000"/>
            <a:ext cx="11795760" cy="8086865"/>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ELABORATION 2</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GRASP — who does what, and why</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18 / 35</a:t>
            </a:r>
          </a:p>
        </p:txBody>
      </p:sp>
      <p:pic>
        <p:nvPicPr>
          <p:cNvPr id="8" name="Picture 7" descr="GRASP-Assignments.png"/>
          <p:cNvPicPr>
            <a:picLocks noChangeAspect="1"/>
          </p:cNvPicPr>
          <p:nvPr/>
        </p:nvPicPr>
        <p:blipFill>
          <a:blip r:embed="rId2"/>
          <a:stretch>
            <a:fillRect/>
          </a:stretch>
        </p:blipFill>
        <p:spPr>
          <a:xfrm>
            <a:off x="274320" y="1170432"/>
            <a:ext cx="11612880" cy="7512501"/>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ELABORATION 2</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UI prototype — Pharmacist counter</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19 / 35</a:t>
            </a:r>
          </a:p>
        </p:txBody>
      </p:sp>
      <p:pic>
        <p:nvPicPr>
          <p:cNvPr id="8" name="Picture 7" descr="UI-02-POS-Sale.png"/>
          <p:cNvPicPr>
            <a:picLocks noChangeAspect="1"/>
          </p:cNvPicPr>
          <p:nvPr/>
        </p:nvPicPr>
        <p:blipFill>
          <a:blip r:embed="rId2"/>
          <a:stretch>
            <a:fillRect/>
          </a:stretch>
        </p:blipFill>
        <p:spPr>
          <a:xfrm>
            <a:off x="320040" y="1188720"/>
            <a:ext cx="11521440" cy="680085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ELABORATION 2</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Database design groups</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20 / 35</a:t>
            </a:r>
          </a:p>
        </p:txBody>
      </p:sp>
      <p:pic>
        <p:nvPicPr>
          <p:cNvPr id="8" name="Picture 7" descr="Schema-Groups.png"/>
          <p:cNvPicPr>
            <a:picLocks noChangeAspect="1"/>
          </p:cNvPicPr>
          <p:nvPr/>
        </p:nvPicPr>
        <p:blipFill>
          <a:blip r:embed="rId2"/>
          <a:stretch>
            <a:fillRect/>
          </a:stretch>
        </p:blipFill>
        <p:spPr>
          <a:xfrm>
            <a:off x="320040" y="1188720"/>
            <a:ext cx="11521440" cy="724657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ELABORATION 2</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Entity-relationship diagram</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21 / 35</a:t>
            </a:r>
          </a:p>
        </p:txBody>
      </p:sp>
      <p:pic>
        <p:nvPicPr>
          <p:cNvPr id="8" name="Picture 7" descr="ERD-Logical.png"/>
          <p:cNvPicPr>
            <a:picLocks noChangeAspect="1"/>
          </p:cNvPicPr>
          <p:nvPr/>
        </p:nvPicPr>
        <p:blipFill>
          <a:blip r:embed="rId2"/>
          <a:stretch>
            <a:fillRect/>
          </a:stretch>
        </p:blipFill>
        <p:spPr>
          <a:xfrm>
            <a:off x="137160" y="1115568"/>
            <a:ext cx="11887200" cy="9253105"/>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ELABORATION 2</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Major tables and relationships</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22 / 35</a:t>
            </a:r>
          </a:p>
        </p:txBody>
      </p:sp>
      <p:sp>
        <p:nvSpPr>
          <p:cNvPr id="8" name="TextBox 7"/>
          <p:cNvSpPr txBox="1"/>
          <p:nvPr/>
        </p:nvSpPr>
        <p:spPr>
          <a:xfrm>
            <a:off x="548640" y="1325880"/>
            <a:ext cx="11155680" cy="5029200"/>
          </a:xfrm>
          <a:prstGeom prst="rect">
            <a:avLst/>
          </a:prstGeom>
          <a:noFill/>
        </p:spPr>
        <p:txBody>
          <a:bodyPr wrap="square">
            <a:spAutoFit/>
          </a:bodyPr>
          <a:lstStyle/>
          <a:p>
            <a:pPr algn="l"/>
            <a:r>
              <a:rPr sz="1600" b="1">
                <a:solidFill>
                  <a:srgbClr val="1A7A6D"/>
                </a:solidFill>
                <a:latin typeface="Calibri"/>
              </a:rPr>
              <a:t>Persistent form of the domain model — design only, no SQL scripts</a:t>
            </a:r>
          </a:p>
          <a:p>
            <a:r>
              <a:rPr sz="1600">
                <a:solidFill>
                  <a:srgbClr val="1A2332"/>
                </a:solidFill>
              </a:rPr>
              <a:t>•  users.role ∈ {ADMINISTRATOR, PHARMACIST}  ·  password_hash never plaintext</a:t>
            </a:r>
          </a:p>
          <a:p>
            <a:r>
              <a:rPr sz="1600">
                <a:solidFill>
                  <a:srgbClr val="1A2332"/>
                </a:solidFill>
              </a:rPr>
              <a:t>•  medicines described; stock_batches hold expiry and quantity_on_hand</a:t>
            </a:r>
          </a:p>
          <a:p>
            <a:r>
              <a:rPr sz="1600">
                <a:solidFill>
                  <a:srgbClr val="1A2332"/>
                </a:solidFill>
              </a:rPr>
              <a:t>•  sales 1—* sale_items  ·  sale_items copies unit_price (history stays still)</a:t>
            </a:r>
          </a:p>
          <a:p>
            <a:r>
              <a:rPr sz="1600">
                <a:solidFill>
                  <a:srgbClr val="1A2332"/>
                </a:solidFill>
              </a:rPr>
              <a:t>•  sales 1—0..1 payments  ·  method = CASH | CARD | MOBILE_MONEY</a:t>
            </a:r>
          </a:p>
          <a:p>
            <a:r>
              <a:rPr sz="1600">
                <a:solidFill>
                  <a:srgbClr val="1A2332"/>
                </a:solidFill>
              </a:rPr>
              <a:t>•  customers / prescriptions support attachPrescription; no customer login</a:t>
            </a:r>
          </a:p>
          <a:p>
            <a:r>
              <a:rPr sz="1600">
                <a:solidFill>
                  <a:srgbClr val="1A2332"/>
                </a:solidFill>
              </a:rPr>
              <a:t>•  stock_receipts + stock_adjustments are Administrator movements</a:t>
            </a:r>
          </a:p>
          <a:p>
            <a:r>
              <a:rPr sz="1600">
                <a:solidFill>
                  <a:srgbClr val="1A2332"/>
                </a:solidFill>
              </a:rPr>
              <a:t>•  audit_logs record login, sale, void, stock, and user-admin events</a:t>
            </a:r>
          </a:p>
          <a:p>
            <a:r>
              <a:rPr sz="1600">
                <a:solidFill>
                  <a:srgbClr val="1A2332"/>
                </a:solidFill>
              </a:rPr>
              <a:t>•  3NF target; M:N resolved by sale_items and prescription_items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WEEKS 9–12</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Construction — Iterations 3 and 4</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23 / 35</a:t>
            </a:r>
          </a:p>
        </p:txBody>
      </p:sp>
      <p:sp>
        <p:nvSpPr>
          <p:cNvPr id="8" name="Rounded Rectangle 7"/>
          <p:cNvSpPr/>
          <p:nvPr/>
        </p:nvSpPr>
        <p:spPr>
          <a:xfrm>
            <a:off x="457200" y="1417320"/>
            <a:ext cx="5486400" cy="466344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417320"/>
            <a:ext cx="5486400" cy="4663440"/>
          </a:xfrm>
          <a:prstGeom prst="roundRect">
            <a:avLst>
              <a:gd name="adj" fmla="val 8000"/>
            </a:avLst>
          </a:prstGeom>
          <a:solidFill>
            <a:srgbClr val="F4EFE6"/>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554480"/>
            <a:ext cx="5120640" cy="4389120"/>
          </a:xfrm>
          <a:prstGeom prst="rect">
            <a:avLst/>
          </a:prstGeom>
          <a:noFill/>
        </p:spPr>
        <p:txBody>
          <a:bodyPr wrap="square">
            <a:spAutoFit/>
          </a:bodyPr>
          <a:lstStyle/>
          <a:p>
            <a:pPr algn="l"/>
            <a:r>
              <a:rPr sz="1800" b="1">
                <a:solidFill>
                  <a:srgbClr val="0D3B4C"/>
                </a:solidFill>
                <a:latin typeface="Calibri"/>
              </a:rPr>
              <a:t>Iteration 3 — spine</a:t>
            </a:r>
          </a:p>
          <a:p>
            <a:r>
              <a:rPr sz="1600"/>
              <a:t>•  F-01 Auth</a:t>
            </a:r>
          </a:p>
          <a:p>
            <a:r>
              <a:rPr sz="1600"/>
              <a:t>•  F-08 Medicines</a:t>
            </a:r>
          </a:p>
          <a:p>
            <a:r>
              <a:rPr sz="1600"/>
              <a:t>•  F-02…F-07 Process Sale</a:t>
            </a:r>
          </a:p>
          <a:p>
            <a:r>
              <a:rPr sz="1600"/>
              <a:t>•  UT-01–UT-09  ·  IT-01–IT-03</a:t>
            </a:r>
          </a:p>
        </p:txBody>
      </p:sp>
      <p:sp>
        <p:nvSpPr>
          <p:cNvPr id="11" name="TextBox 10"/>
          <p:cNvSpPr txBox="1"/>
          <p:nvPr/>
        </p:nvSpPr>
        <p:spPr>
          <a:xfrm>
            <a:off x="6400800" y="1554480"/>
            <a:ext cx="5120640" cy="4389120"/>
          </a:xfrm>
          <a:prstGeom prst="rect">
            <a:avLst/>
          </a:prstGeom>
          <a:noFill/>
        </p:spPr>
        <p:txBody>
          <a:bodyPr wrap="square">
            <a:spAutoFit/>
          </a:bodyPr>
          <a:lstStyle/>
          <a:p>
            <a:pPr algn="l"/>
            <a:r>
              <a:rPr sz="1800" b="1">
                <a:solidFill>
                  <a:srgbClr val="0D3B4C"/>
                </a:solidFill>
                <a:latin typeface="Calibri"/>
              </a:rPr>
              <a:t>Iteration 4 — widen</a:t>
            </a:r>
          </a:p>
          <a:p>
            <a:r>
              <a:rPr sz="1600"/>
              <a:t>•  F-09–F-10 Inventory</a:t>
            </a:r>
          </a:p>
          <a:p>
            <a:r>
              <a:rPr sz="1600"/>
              <a:t>•  F-15 Void</a:t>
            </a:r>
          </a:p>
          <a:p>
            <a:r>
              <a:rPr sz="1600"/>
              <a:t>•  F-11–F-16 Admin + reports</a:t>
            </a:r>
          </a:p>
          <a:p>
            <a:r>
              <a:rPr sz="1600"/>
              <a:t>•  Remaining tests</a:t>
            </a:r>
          </a:p>
        </p:txBody>
      </p:sp>
      <p:sp>
        <p:nvSpPr>
          <p:cNvPr id="12" name="TextBox 11"/>
          <p:cNvSpPr txBox="1"/>
          <p:nvPr/>
        </p:nvSpPr>
        <p:spPr>
          <a:xfrm>
            <a:off x="548640" y="5806440"/>
            <a:ext cx="10972800" cy="365760"/>
          </a:xfrm>
          <a:prstGeom prst="rect">
            <a:avLst/>
          </a:prstGeom>
          <a:noFill/>
        </p:spPr>
        <p:txBody>
          <a:bodyPr wrap="none">
            <a:spAutoFit/>
          </a:bodyPr>
          <a:lstStyle/>
          <a:p>
            <a:pPr algn="l"/>
            <a:r>
              <a:rPr sz="1400" b="1">
                <a:solidFill>
                  <a:srgbClr val="C4A35A"/>
                </a:solidFill>
                <a:latin typeface="Calibri"/>
              </a:rPr>
              <a:t>Feature status is Planned. Results: TO BE COMPLETED DURING CONSTRUCTION.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CONSTRUCTION</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Testing strategy</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24 / 35</a:t>
            </a:r>
          </a:p>
        </p:txBody>
      </p:sp>
      <p:sp>
        <p:nvSpPr>
          <p:cNvPr id="8" name="Rounded Rectangle 7"/>
          <p:cNvSpPr/>
          <p:nvPr/>
        </p:nvSpPr>
        <p:spPr>
          <a:xfrm>
            <a:off x="457200" y="1417320"/>
            <a:ext cx="5486400" cy="466344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417320"/>
            <a:ext cx="5486400" cy="466344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554480"/>
            <a:ext cx="5120640" cy="4389120"/>
          </a:xfrm>
          <a:prstGeom prst="rect">
            <a:avLst/>
          </a:prstGeom>
          <a:noFill/>
        </p:spPr>
        <p:txBody>
          <a:bodyPr wrap="square">
            <a:spAutoFit/>
          </a:bodyPr>
          <a:lstStyle/>
          <a:p>
            <a:pPr algn="l"/>
            <a:r>
              <a:rPr sz="1800" b="1">
                <a:solidFill>
                  <a:srgbClr val="1A7A6D"/>
                </a:solidFill>
                <a:latin typeface="Calibri"/>
              </a:rPr>
              <a:t>Unit (examples)</a:t>
            </a:r>
          </a:p>
          <a:p>
            <a:r>
              <a:rPr sz="1500"/>
              <a:t>•  UT-04 expired batch not sellable</a:t>
            </a:r>
          </a:p>
          <a:p>
            <a:r>
              <a:rPr sz="1500"/>
              <a:t>•  UT-08 failed persist leaves stock</a:t>
            </a:r>
          </a:p>
          <a:p>
            <a:r>
              <a:rPr sz="1500"/>
              <a:t>•  UT-10 void restores quantity</a:t>
            </a:r>
          </a:p>
          <a:p>
            <a:r>
              <a:rPr sz="1500"/>
              <a:t>•  UT-02 wrong password → no session</a:t>
            </a:r>
          </a:p>
        </p:txBody>
      </p:sp>
      <p:sp>
        <p:nvSpPr>
          <p:cNvPr id="11" name="TextBox 10"/>
          <p:cNvSpPr txBox="1"/>
          <p:nvPr/>
        </p:nvSpPr>
        <p:spPr>
          <a:xfrm>
            <a:off x="6400800" y="1554480"/>
            <a:ext cx="5120640" cy="4389120"/>
          </a:xfrm>
          <a:prstGeom prst="rect">
            <a:avLst/>
          </a:prstGeom>
          <a:noFill/>
        </p:spPr>
        <p:txBody>
          <a:bodyPr wrap="square">
            <a:spAutoFit/>
          </a:bodyPr>
          <a:lstStyle/>
          <a:p>
            <a:pPr algn="l"/>
            <a:r>
              <a:rPr sz="1800" b="1">
                <a:solidFill>
                  <a:srgbClr val="1A7A6D"/>
                </a:solidFill>
                <a:latin typeface="Calibri"/>
              </a:rPr>
              <a:t>Integration (examples)</a:t>
            </a:r>
          </a:p>
          <a:p>
            <a:r>
              <a:rPr sz="1500"/>
              <a:t>•  IT-01 full OTC path in the database</a:t>
            </a:r>
          </a:p>
          <a:p>
            <a:r>
              <a:rPr sz="1500"/>
              <a:t>•  IT-02 expiry refusal leaves no line</a:t>
            </a:r>
          </a:p>
          <a:p>
            <a:r>
              <a:rPr sz="1500"/>
              <a:t>•  IT-05 void + audit row</a:t>
            </a:r>
          </a:p>
          <a:p>
            <a:r>
              <a:rPr sz="1500"/>
              <a:t>•  IT-06 Pharmacist cannot create medicines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CONSTRUCTION</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Git and continuous integration</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25 / 35</a:t>
            </a:r>
          </a:p>
        </p:txBody>
      </p:sp>
      <p:pic>
        <p:nvPicPr>
          <p:cNvPr id="8" name="Picture 7" descr="Git-CI-Workflow.png"/>
          <p:cNvPicPr>
            <a:picLocks noChangeAspect="1"/>
          </p:cNvPicPr>
          <p:nvPr/>
        </p:nvPicPr>
        <p:blipFill>
          <a:blip r:embed="rId2"/>
          <a:stretch>
            <a:fillRect/>
          </a:stretch>
        </p:blipFill>
        <p:spPr>
          <a:xfrm>
            <a:off x="365760" y="1188720"/>
            <a:ext cx="11430000" cy="6195934"/>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CONSTRUCTION</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Defect tracking</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26 / 35</a:t>
            </a:r>
          </a:p>
        </p:txBody>
      </p:sp>
      <p:sp>
        <p:nvSpPr>
          <p:cNvPr id="8" name="TextBox 7"/>
          <p:cNvSpPr txBox="1"/>
          <p:nvPr/>
        </p:nvSpPr>
        <p:spPr>
          <a:xfrm>
            <a:off x="548640" y="1371600"/>
            <a:ext cx="11064240" cy="4937760"/>
          </a:xfrm>
          <a:prstGeom prst="rect">
            <a:avLst/>
          </a:prstGeom>
          <a:noFill/>
        </p:spPr>
        <p:txBody>
          <a:bodyPr wrap="square">
            <a:spAutoFit/>
          </a:bodyPr>
          <a:lstStyle/>
          <a:p>
            <a:pPr algn="l"/>
            <a:r>
              <a:rPr sz="1600" b="1">
                <a:solidFill>
                  <a:srgbClr val="0D3B4C"/>
                </a:solidFill>
                <a:latin typeface="Calibri"/>
              </a:rPr>
              <a:t>A defect is a failed test or a broken use-case guarantee — not a new feature request.</a:t>
            </a:r>
          </a:p>
          <a:p>
            <a:r>
              <a:rPr sz="1700">
                <a:solidFill>
                  <a:srgbClr val="1A2332"/>
                </a:solidFill>
              </a:rPr>
              <a:t>•  Log fields: DEF-id, test id, UC/FR, severity, status, commit hash</a:t>
            </a:r>
          </a:p>
          <a:p>
            <a:r>
              <a:rPr sz="1700">
                <a:solidFill>
                  <a:srgbClr val="1A2332"/>
                </a:solidFill>
              </a:rPr>
              <a:t>•  Template row DEF-000 exists so the log format is ready</a:t>
            </a:r>
          </a:p>
          <a:p>
            <a:r>
              <a:rPr sz="1700">
                <a:solidFill>
                  <a:srgbClr val="1A2332"/>
                </a:solidFill>
              </a:rPr>
              <a:t>•  No invented defect counts or “12 bugs closed” stories</a:t>
            </a:r>
          </a:p>
          <a:p>
            <a:r>
              <a:rPr sz="1700">
                <a:solidFill>
                  <a:srgbClr val="1A2332"/>
                </a:solidFill>
              </a:rPr>
              <a:t>•  New ideas (NHIMA, web shop) go to the backlog, not the defect log</a:t>
            </a:r>
          </a:p>
          <a:p>
            <a:r>
              <a:rPr sz="1700">
                <a:solidFill>
                  <a:srgbClr val="1A2332"/>
                </a:solidFill>
              </a:rPr>
              <a:t>•  Status: TO BE COMPLETED DURING CONSTRUCTION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WEEKS 13–14</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Transition — beta, performance, security</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27 / 35</a:t>
            </a:r>
          </a:p>
        </p:txBody>
      </p:sp>
      <p:sp>
        <p:nvSpPr>
          <p:cNvPr id="8" name="Rounded Rectangle 7"/>
          <p:cNvSpPr/>
          <p:nvPr/>
        </p:nvSpPr>
        <p:spPr>
          <a:xfrm>
            <a:off x="457200" y="1417320"/>
            <a:ext cx="5623560" cy="210312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554480"/>
            <a:ext cx="5303520" cy="1828800"/>
          </a:xfrm>
          <a:prstGeom prst="rect">
            <a:avLst/>
          </a:prstGeom>
          <a:noFill/>
        </p:spPr>
        <p:txBody>
          <a:bodyPr wrap="square">
            <a:spAutoFit/>
          </a:bodyPr>
          <a:lstStyle/>
          <a:p>
            <a:pPr algn="l"/>
            <a:r>
              <a:rPr sz="1800" b="1">
                <a:solidFill>
                  <a:srgbClr val="1A7A6D"/>
                </a:solidFill>
                <a:latin typeface="Calibri"/>
              </a:rPr>
              <a:t>Beta users</a:t>
            </a:r>
          </a:p>
          <a:p>
            <a:r>
              <a:rPr sz="1400"/>
              <a:t>One Administrator account, one Pharmacist/Cashier account. Same human may switch — never a merged role.</a:t>
            </a:r>
          </a:p>
        </p:txBody>
      </p:sp>
      <p:sp>
        <p:nvSpPr>
          <p:cNvPr id="10" name="Rounded Rectangle 9"/>
          <p:cNvSpPr/>
          <p:nvPr/>
        </p:nvSpPr>
        <p:spPr>
          <a:xfrm>
            <a:off x="6309360" y="1417320"/>
            <a:ext cx="5623560" cy="210312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554480"/>
            <a:ext cx="5303520" cy="1828800"/>
          </a:xfrm>
          <a:prstGeom prst="rect">
            <a:avLst/>
          </a:prstGeom>
          <a:noFill/>
        </p:spPr>
        <p:txBody>
          <a:bodyPr wrap="square">
            <a:spAutoFit/>
          </a:bodyPr>
          <a:lstStyle/>
          <a:p>
            <a:pPr algn="l"/>
            <a:r>
              <a:rPr sz="1800" b="1">
                <a:solidFill>
                  <a:srgbClr val="1A7A6D"/>
                </a:solidFill>
                <a:latin typeface="Calibri"/>
              </a:rPr>
              <a:t>Feedback</a:t>
            </a:r>
          </a:p>
          <a:p>
            <a:r>
              <a:rPr sz="1400"/>
              <a:t>Structured prompts. Analysis splits usability / defect / out-of-scope.</a:t>
            </a:r>
          </a:p>
        </p:txBody>
      </p:sp>
      <p:sp>
        <p:nvSpPr>
          <p:cNvPr id="12" name="Rounded Rectangle 11"/>
          <p:cNvSpPr/>
          <p:nvPr/>
        </p:nvSpPr>
        <p:spPr>
          <a:xfrm>
            <a:off x="457200" y="3703320"/>
            <a:ext cx="5623560" cy="210312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840480"/>
            <a:ext cx="5303520" cy="1828800"/>
          </a:xfrm>
          <a:prstGeom prst="rect">
            <a:avLst/>
          </a:prstGeom>
          <a:noFill/>
        </p:spPr>
        <p:txBody>
          <a:bodyPr wrap="square">
            <a:spAutoFit/>
          </a:bodyPr>
          <a:lstStyle/>
          <a:p>
            <a:pPr algn="l"/>
            <a:r>
              <a:rPr sz="1800" b="1">
                <a:solidFill>
                  <a:srgbClr val="1A7A6D"/>
                </a:solidFill>
                <a:latin typeface="Calibri"/>
              </a:rPr>
              <a:t>Performance</a:t>
            </a:r>
          </a:p>
          <a:p>
            <a:r>
              <a:rPr sz="1400"/>
              <a:t>Time enterItem on the real workstation against NFR-02. No fake timings today.</a:t>
            </a:r>
          </a:p>
        </p:txBody>
      </p:sp>
      <p:sp>
        <p:nvSpPr>
          <p:cNvPr id="14" name="Rounded Rectangle 13"/>
          <p:cNvSpPr/>
          <p:nvPr/>
        </p:nvSpPr>
        <p:spPr>
          <a:xfrm>
            <a:off x="6309360" y="3703320"/>
            <a:ext cx="5623560" cy="210312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3840480"/>
            <a:ext cx="5303520" cy="1828800"/>
          </a:xfrm>
          <a:prstGeom prst="rect">
            <a:avLst/>
          </a:prstGeom>
          <a:noFill/>
        </p:spPr>
        <p:txBody>
          <a:bodyPr wrap="square">
            <a:spAutoFit/>
          </a:bodyPr>
          <a:lstStyle/>
          <a:p>
            <a:pPr algn="l"/>
            <a:r>
              <a:rPr sz="1800" b="1">
                <a:solidFill>
                  <a:srgbClr val="1A7A6D"/>
                </a:solidFill>
                <a:latin typeface="Calibri"/>
              </a:rPr>
              <a:t>Security</a:t>
            </a:r>
          </a:p>
          <a:p>
            <a:r>
              <a:rPr sz="1400"/>
              <a:t>Plaintext password must fail; Pharmacist must not open user-create; voids need reasons.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DESIGNED SYSTEM</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What the constructed system will be</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28 / 35</a:t>
            </a:r>
          </a:p>
        </p:txBody>
      </p:sp>
      <p:pic>
        <p:nvPicPr>
          <p:cNvPr id="8" name="Picture 7" descr="UI-06-Admin-Dashboard.png"/>
          <p:cNvPicPr>
            <a:picLocks noChangeAspect="1"/>
          </p:cNvPicPr>
          <p:nvPr/>
        </p:nvPicPr>
        <p:blipFill>
          <a:blip r:embed="rId2"/>
          <a:stretch>
            <a:fillRect/>
          </a:stretch>
        </p:blipFill>
        <p:spPr>
          <a:xfrm>
            <a:off x="274320" y="1234440"/>
            <a:ext cx="5760720" cy="3328988"/>
          </a:xfrm>
          <a:prstGeom prst="rect">
            <a:avLst/>
          </a:prstGeom>
        </p:spPr>
      </p:pic>
      <p:pic>
        <p:nvPicPr>
          <p:cNvPr id="9" name="Picture 8" descr="UI-03-Payment.png"/>
          <p:cNvPicPr>
            <a:picLocks noChangeAspect="1"/>
          </p:cNvPicPr>
          <p:nvPr/>
        </p:nvPicPr>
        <p:blipFill>
          <a:blip r:embed="rId3"/>
          <a:stretch>
            <a:fillRect/>
          </a:stretch>
        </p:blipFill>
        <p:spPr>
          <a:xfrm>
            <a:off x="6126480" y="1234440"/>
            <a:ext cx="5669280" cy="3379882"/>
          </a:xfrm>
          <a:prstGeom prst="rect">
            <a:avLst/>
          </a:prstGeom>
        </p:spPr>
      </p:pic>
      <p:sp>
        <p:nvSpPr>
          <p:cNvPr id="10" name="TextBox 9"/>
          <p:cNvSpPr txBox="1"/>
          <p:nvPr/>
        </p:nvSpPr>
        <p:spPr>
          <a:xfrm>
            <a:off x="457200" y="4663440"/>
            <a:ext cx="11247120" cy="1371600"/>
          </a:xfrm>
          <a:prstGeom prst="rect">
            <a:avLst/>
          </a:prstGeom>
          <a:noFill/>
        </p:spPr>
        <p:txBody>
          <a:bodyPr wrap="square">
            <a:spAutoFit/>
          </a:bodyPr>
          <a:lstStyle/>
          <a:p>
            <a:pPr algn="l"/>
            <a:r>
              <a:rPr sz="1600" b="0">
                <a:solidFill>
                  <a:srgbClr val="1A2332"/>
                </a:solidFill>
                <a:latin typeface="Calibri"/>
              </a:rPr>
              <a:t>Administrator dashboard and Pharmacist payment — same two roles on every screen. The running product will replace these prototypes after construction.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WEEK 15</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Final UML — the same approved models</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29 / 35</a:t>
            </a:r>
          </a:p>
        </p:txBody>
      </p:sp>
      <p:pic>
        <p:nvPicPr>
          <p:cNvPr id="8" name="Picture 7" descr="Architecture-Sale-Path.png"/>
          <p:cNvPicPr>
            <a:picLocks noChangeAspect="1"/>
          </p:cNvPicPr>
          <p:nvPr/>
        </p:nvPicPr>
        <p:blipFill>
          <a:blip r:embed="rId2"/>
          <a:stretch>
            <a:fillRect/>
          </a:stretch>
        </p:blipFill>
        <p:spPr>
          <a:xfrm>
            <a:off x="274320" y="1188720"/>
            <a:ext cx="11612880" cy="676407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WEEK 15</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UP reflection</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30 / 35</a:t>
            </a:r>
          </a:p>
        </p:txBody>
      </p:sp>
      <p:sp>
        <p:nvSpPr>
          <p:cNvPr id="8" name="Rounded Rectangle 7"/>
          <p:cNvSpPr/>
          <p:nvPr/>
        </p:nvSpPr>
        <p:spPr>
          <a:xfrm>
            <a:off x="457200" y="1325880"/>
            <a:ext cx="11247120" cy="1078992"/>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17320"/>
            <a:ext cx="10972800" cy="914400"/>
          </a:xfrm>
          <a:prstGeom prst="rect">
            <a:avLst/>
          </a:prstGeom>
          <a:noFill/>
        </p:spPr>
        <p:txBody>
          <a:bodyPr wrap="square">
            <a:spAutoFit/>
          </a:bodyPr>
          <a:lstStyle/>
          <a:p>
            <a:pPr algn="l"/>
            <a:r>
              <a:rPr sz="1600" b="1">
                <a:solidFill>
                  <a:srgbClr val="1A7A6D"/>
                </a:solidFill>
                <a:latin typeface="Calibri"/>
              </a:rPr>
              <a:t>Inception</a:t>
            </a:r>
          </a:p>
          <a:p>
            <a:r>
              <a:rPr sz="1400"/>
              <a:t>Treating 10% as Process Sale stopped insurance/refill scope creep from an earlier briefing slide.</a:t>
            </a:r>
          </a:p>
        </p:txBody>
      </p:sp>
      <p:sp>
        <p:nvSpPr>
          <p:cNvPr id="10" name="Rounded Rectangle 9"/>
          <p:cNvSpPr/>
          <p:nvPr/>
        </p:nvSpPr>
        <p:spPr>
          <a:xfrm>
            <a:off x="457200" y="2514600"/>
            <a:ext cx="11247120" cy="1078992"/>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606040"/>
            <a:ext cx="10972800" cy="914400"/>
          </a:xfrm>
          <a:prstGeom prst="rect">
            <a:avLst/>
          </a:prstGeom>
          <a:noFill/>
        </p:spPr>
        <p:txBody>
          <a:bodyPr wrap="square">
            <a:spAutoFit/>
          </a:bodyPr>
          <a:lstStyle/>
          <a:p>
            <a:pPr algn="l"/>
            <a:r>
              <a:rPr sz="1600" b="1">
                <a:solidFill>
                  <a:srgbClr val="1A7A6D"/>
                </a:solidFill>
                <a:latin typeface="Calibri"/>
              </a:rPr>
              <a:t>Elaboration</a:t>
            </a:r>
          </a:p>
          <a:p>
            <a:r>
              <a:rPr sz="1400"/>
              <a:t>SSDs and StockBatch made the pharmacy difference from NextGen POS real. Register was omitted on purpose.</a:t>
            </a:r>
          </a:p>
        </p:txBody>
      </p:sp>
      <p:sp>
        <p:nvSpPr>
          <p:cNvPr id="12" name="Rounded Rectangle 11"/>
          <p:cNvSpPr/>
          <p:nvPr/>
        </p:nvSpPr>
        <p:spPr>
          <a:xfrm>
            <a:off x="457200" y="3703320"/>
            <a:ext cx="11247120" cy="1078992"/>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94760"/>
            <a:ext cx="10972800" cy="914400"/>
          </a:xfrm>
          <a:prstGeom prst="rect">
            <a:avLst/>
          </a:prstGeom>
          <a:noFill/>
        </p:spPr>
        <p:txBody>
          <a:bodyPr wrap="square">
            <a:spAutoFit/>
          </a:bodyPr>
          <a:lstStyle/>
          <a:p>
            <a:pPr algn="l"/>
            <a:r>
              <a:rPr sz="1600" b="1">
                <a:solidFill>
                  <a:srgbClr val="1A7A6D"/>
                </a:solidFill>
                <a:latin typeface="Calibri"/>
              </a:rPr>
              <a:t>Construction</a:t>
            </a:r>
          </a:p>
          <a:p>
            <a:r>
              <a:rPr sz="1400"/>
              <a:t>Not lived yet. Planned lesson: vertical slices, not layer-by-layer waterfall.</a:t>
            </a:r>
          </a:p>
        </p:txBody>
      </p:sp>
      <p:sp>
        <p:nvSpPr>
          <p:cNvPr id="14" name="Rounded Rectangle 13"/>
          <p:cNvSpPr/>
          <p:nvPr/>
        </p:nvSpPr>
        <p:spPr>
          <a:xfrm>
            <a:off x="457200" y="4892040"/>
            <a:ext cx="11247120" cy="1078992"/>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983480"/>
            <a:ext cx="10972800" cy="914400"/>
          </a:xfrm>
          <a:prstGeom prst="rect">
            <a:avLst/>
          </a:prstGeom>
          <a:noFill/>
        </p:spPr>
        <p:txBody>
          <a:bodyPr wrap="square">
            <a:spAutoFit/>
          </a:bodyPr>
          <a:lstStyle/>
          <a:p>
            <a:pPr algn="l"/>
            <a:r>
              <a:rPr sz="1600" b="1">
                <a:solidFill>
                  <a:srgbClr val="1A7A6D"/>
                </a:solidFill>
                <a:latin typeface="Calibri"/>
              </a:rPr>
              <a:t>Transition</a:t>
            </a:r>
          </a:p>
          <a:p>
            <a:r>
              <a:rPr sz="1400"/>
              <a:t>Not lived yet. R-05 (training) will be confirmed only when a non-author Pharmacist uses the till.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WEEK 15</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Lessons learned (design phase)</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31 / 35</a:t>
            </a:r>
          </a:p>
        </p:txBody>
      </p:sp>
      <p:sp>
        <p:nvSpPr>
          <p:cNvPr id="8" name="TextBox 7"/>
          <p:cNvSpPr txBox="1"/>
          <p:nvPr/>
        </p:nvSpPr>
        <p:spPr>
          <a:xfrm>
            <a:off x="640080" y="1371600"/>
            <a:ext cx="10972800" cy="4937760"/>
          </a:xfrm>
          <a:prstGeom prst="rect">
            <a:avLst/>
          </a:prstGeom>
          <a:noFill/>
        </p:spPr>
        <p:txBody>
          <a:bodyPr wrap="square">
            <a:spAutoFit/>
          </a:bodyPr>
          <a:lstStyle/>
          <a:p>
            <a:pPr algn="l">
              <a:spcAft>
                <a:spcPts val="1000"/>
              </a:spcAft>
            </a:pPr>
            <a:r>
              <a:rPr sz="1800">
                <a:solidFill>
                  <a:srgbClr val="1A2332"/>
                </a:solidFill>
              </a:rPr>
              <a:t>•  A use case is a goal. “Click Search” is not a use case.</a:t>
            </a:r>
          </a:p>
          <a:p>
            <a:pPr>
              <a:spcAft>
                <a:spcPts val="1000"/>
              </a:spcAft>
            </a:pPr>
            <a:r>
              <a:rPr sz="1800">
                <a:solidFill>
                  <a:srgbClr val="1A2332"/>
                </a:solidFill>
              </a:rPr>
              <a:t>•  Two roles change the diagram, the UI, and the users table — not just a sentence on a slide.</a:t>
            </a:r>
          </a:p>
          <a:p>
            <a:pPr>
              <a:spcAft>
                <a:spcPts val="1000"/>
              </a:spcAft>
            </a:pPr>
            <a:r>
              <a:rPr sz="1800">
                <a:solidFill>
                  <a:srgbClr val="1A2332"/>
                </a:solidFill>
              </a:rPr>
              <a:t>•  Pharmacy POS ≠ NextGen POS. Expiry and prescriptions in; Register out.</a:t>
            </a:r>
          </a:p>
          <a:p>
            <a:pPr>
              <a:spcAft>
                <a:spcPts val="1000"/>
              </a:spcAft>
            </a:pPr>
            <a:r>
              <a:rPr sz="1800">
                <a:solidFill>
                  <a:srgbClr val="1A2332"/>
                </a:solidFill>
              </a:rPr>
              <a:t>•  Assumptions that are not written become fake requirements.</a:t>
            </a:r>
          </a:p>
          <a:p>
            <a:pPr>
              <a:spcAft>
                <a:spcPts val="1000"/>
              </a:spcAft>
            </a:pPr>
            <a:r>
              <a:rPr sz="1800">
                <a:solidFill>
                  <a:srgbClr val="1A2332"/>
                </a:solidFill>
              </a:rPr>
              <a:t>•  “Mitigated in design” is not “gone”.</a:t>
            </a:r>
          </a:p>
          <a:p>
            <a:pPr>
              <a:spcAft>
                <a:spcPts val="1000"/>
              </a:spcAft>
            </a:pPr>
            <a:r>
              <a:rPr sz="1800">
                <a:solidFill>
                  <a:srgbClr val="1A2332"/>
                </a:solidFill>
              </a:rPr>
              <a:t>•  Stable IDs (FR-05, UC-02, UT-04) are how UP documents stay one project.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WEEK 15</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Key achievements (this pack)</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32 / 35</a:t>
            </a:r>
          </a:p>
        </p:txBody>
      </p:sp>
      <p:sp>
        <p:nvSpPr>
          <p:cNvPr id="8" name="Rounded Rectangle 7"/>
          <p:cNvSpPr/>
          <p:nvPr/>
        </p:nvSpPr>
        <p:spPr>
          <a:xfrm>
            <a:off x="502920" y="1417320"/>
            <a:ext cx="5623560" cy="137160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45920"/>
            <a:ext cx="5303520" cy="1051560"/>
          </a:xfrm>
          <a:prstGeom prst="rect">
            <a:avLst/>
          </a:prstGeom>
          <a:noFill/>
        </p:spPr>
        <p:txBody>
          <a:bodyPr wrap="square">
            <a:spAutoFit/>
          </a:bodyPr>
          <a:lstStyle/>
          <a:p>
            <a:pPr algn="l"/>
            <a:r>
              <a:rPr sz="1600" b="0">
                <a:solidFill>
                  <a:srgbClr val="0D3B4C"/>
                </a:solidFill>
                <a:latin typeface="Calibri"/>
              </a:rPr>
              <a:t>Marking-guide compliance matrix covering all 100 marks</a:t>
            </a:r>
          </a:p>
        </p:txBody>
      </p:sp>
      <p:sp>
        <p:nvSpPr>
          <p:cNvPr id="10" name="Rounded Rectangle 9"/>
          <p:cNvSpPr/>
          <p:nvPr/>
        </p:nvSpPr>
        <p:spPr>
          <a:xfrm>
            <a:off x="6309359" y="1417320"/>
            <a:ext cx="5623560" cy="137160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5303520" cy="1051560"/>
          </a:xfrm>
          <a:prstGeom prst="rect">
            <a:avLst/>
          </a:prstGeom>
          <a:noFill/>
        </p:spPr>
        <p:txBody>
          <a:bodyPr wrap="square">
            <a:spAutoFit/>
          </a:bodyPr>
          <a:lstStyle/>
          <a:p>
            <a:pPr algn="l"/>
            <a:r>
              <a:rPr sz="1600" b="0">
                <a:solidFill>
                  <a:srgbClr val="0D3B4C"/>
                </a:solidFill>
                <a:latin typeface="Calibri"/>
              </a:rPr>
              <a:t>Ten goal-level use cases with a justified 10 / 30 / 70 split</a:t>
            </a:r>
          </a:p>
        </p:txBody>
      </p:sp>
      <p:sp>
        <p:nvSpPr>
          <p:cNvPr id="12" name="Rounded Rectangle 11"/>
          <p:cNvSpPr/>
          <p:nvPr/>
        </p:nvSpPr>
        <p:spPr>
          <a:xfrm>
            <a:off x="502920" y="2971800"/>
            <a:ext cx="5623560" cy="137160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00400"/>
            <a:ext cx="5303520" cy="1051560"/>
          </a:xfrm>
          <a:prstGeom prst="rect">
            <a:avLst/>
          </a:prstGeom>
          <a:noFill/>
        </p:spPr>
        <p:txBody>
          <a:bodyPr wrap="square">
            <a:spAutoFit/>
          </a:bodyPr>
          <a:lstStyle/>
          <a:p>
            <a:pPr algn="l"/>
            <a:r>
              <a:rPr sz="1600" b="0">
                <a:solidFill>
                  <a:srgbClr val="0D3B4C"/>
                </a:solidFill>
                <a:latin typeface="Calibri"/>
              </a:rPr>
              <a:t>Larman-style SSDs, domain model, DCDs, and GRASP</a:t>
            </a:r>
          </a:p>
        </p:txBody>
      </p:sp>
      <p:sp>
        <p:nvSpPr>
          <p:cNvPr id="14" name="Rounded Rectangle 13"/>
          <p:cNvSpPr/>
          <p:nvPr/>
        </p:nvSpPr>
        <p:spPr>
          <a:xfrm>
            <a:off x="6309359" y="2971800"/>
            <a:ext cx="5623560" cy="137160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3200400"/>
            <a:ext cx="5303520" cy="1051560"/>
          </a:xfrm>
          <a:prstGeom prst="rect">
            <a:avLst/>
          </a:prstGeom>
          <a:noFill/>
        </p:spPr>
        <p:txBody>
          <a:bodyPr wrap="square">
            <a:spAutoFit/>
          </a:bodyPr>
          <a:lstStyle/>
          <a:p>
            <a:pPr algn="l"/>
            <a:r>
              <a:rPr sz="1600" b="0">
                <a:solidFill>
                  <a:srgbClr val="0D3B4C"/>
                </a:solidFill>
                <a:latin typeface="Calibri"/>
              </a:rPr>
              <a:t>Logical schema + ERD consistent with Process Sale</a:t>
            </a:r>
          </a:p>
        </p:txBody>
      </p:sp>
      <p:sp>
        <p:nvSpPr>
          <p:cNvPr id="16" name="Rounded Rectangle 15"/>
          <p:cNvSpPr/>
          <p:nvPr/>
        </p:nvSpPr>
        <p:spPr>
          <a:xfrm>
            <a:off x="502920" y="4526280"/>
            <a:ext cx="5623560" cy="137160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754880"/>
            <a:ext cx="5303520" cy="1051560"/>
          </a:xfrm>
          <a:prstGeom prst="rect">
            <a:avLst/>
          </a:prstGeom>
          <a:noFill/>
        </p:spPr>
        <p:txBody>
          <a:bodyPr wrap="square">
            <a:spAutoFit/>
          </a:bodyPr>
          <a:lstStyle/>
          <a:p>
            <a:pPr algn="l"/>
            <a:r>
              <a:rPr sz="1600" b="0">
                <a:solidFill>
                  <a:srgbClr val="0D3B4C"/>
                </a:solidFill>
                <a:latin typeface="Calibri"/>
              </a:rPr>
              <a:t>UI prototypes for both roles only</a:t>
            </a:r>
          </a:p>
        </p:txBody>
      </p:sp>
      <p:sp>
        <p:nvSpPr>
          <p:cNvPr id="18" name="Rounded Rectangle 17"/>
          <p:cNvSpPr/>
          <p:nvPr/>
        </p:nvSpPr>
        <p:spPr>
          <a:xfrm>
            <a:off x="6309359" y="4526280"/>
            <a:ext cx="5623560" cy="137160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754880"/>
            <a:ext cx="5303520" cy="1051560"/>
          </a:xfrm>
          <a:prstGeom prst="rect">
            <a:avLst/>
          </a:prstGeom>
          <a:noFill/>
        </p:spPr>
        <p:txBody>
          <a:bodyPr wrap="square">
            <a:spAutoFit/>
          </a:bodyPr>
          <a:lstStyle/>
          <a:p>
            <a:pPr algn="l"/>
            <a:r>
              <a:rPr sz="1600" b="0">
                <a:solidFill>
                  <a:srgbClr val="0D3B4C"/>
                </a:solidFill>
                <a:latin typeface="Calibri"/>
              </a:rPr>
              <a:t>Honest placeholders where construction has not occurred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WEEK 15</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Live demonstration plan</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33 / 35</a:t>
            </a:r>
          </a:p>
        </p:txBody>
      </p:sp>
      <p:sp>
        <p:nvSpPr>
          <p:cNvPr id="8" name="Rounded Rectangle 7"/>
          <p:cNvSpPr/>
          <p:nvPr/>
        </p:nvSpPr>
        <p:spPr>
          <a:xfrm>
            <a:off x="457200" y="1463040"/>
            <a:ext cx="3657600" cy="19659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45920"/>
            <a:ext cx="3291840" cy="1645920"/>
          </a:xfrm>
          <a:prstGeom prst="rect">
            <a:avLst/>
          </a:prstGeom>
          <a:noFill/>
        </p:spPr>
        <p:txBody>
          <a:bodyPr wrap="square">
            <a:spAutoFit/>
          </a:bodyPr>
          <a:lstStyle/>
          <a:p>
            <a:pPr algn="l"/>
            <a:r>
              <a:rPr sz="2000" b="1">
                <a:solidFill>
                  <a:srgbClr val="1A7A6D"/>
                </a:solidFill>
                <a:latin typeface="Calibri"/>
              </a:rPr>
              <a:t>SC-01</a:t>
            </a:r>
          </a:p>
          <a:p>
            <a:r>
              <a:rPr sz="1500"/>
              <a:t>OTC cash sale → receipt → stock down</a:t>
            </a:r>
          </a:p>
        </p:txBody>
      </p:sp>
      <p:sp>
        <p:nvSpPr>
          <p:cNvPr id="10" name="Rounded Rectangle 9"/>
          <p:cNvSpPr/>
          <p:nvPr/>
        </p:nvSpPr>
        <p:spPr>
          <a:xfrm>
            <a:off x="4297680" y="1463040"/>
            <a:ext cx="3657600" cy="19659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45920"/>
            <a:ext cx="3291840" cy="1645920"/>
          </a:xfrm>
          <a:prstGeom prst="rect">
            <a:avLst/>
          </a:prstGeom>
          <a:noFill/>
        </p:spPr>
        <p:txBody>
          <a:bodyPr wrap="square">
            <a:spAutoFit/>
          </a:bodyPr>
          <a:lstStyle/>
          <a:p>
            <a:pPr algn="l"/>
            <a:r>
              <a:rPr sz="2000" b="1">
                <a:solidFill>
                  <a:srgbClr val="1A7A6D"/>
                </a:solidFill>
                <a:latin typeface="Calibri"/>
              </a:rPr>
              <a:t>SC-02</a:t>
            </a:r>
          </a:p>
          <a:p>
            <a:r>
              <a:rPr sz="1500"/>
              <a:t>Prescription-only line blocked until details exist</a:t>
            </a:r>
          </a:p>
        </p:txBody>
      </p:sp>
      <p:sp>
        <p:nvSpPr>
          <p:cNvPr id="12" name="Rounded Rectangle 11"/>
          <p:cNvSpPr/>
          <p:nvPr/>
        </p:nvSpPr>
        <p:spPr>
          <a:xfrm>
            <a:off x="8138160" y="1463040"/>
            <a:ext cx="3657600" cy="19659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645920"/>
            <a:ext cx="3291840" cy="1645920"/>
          </a:xfrm>
          <a:prstGeom prst="rect">
            <a:avLst/>
          </a:prstGeom>
          <a:noFill/>
        </p:spPr>
        <p:txBody>
          <a:bodyPr wrap="square">
            <a:spAutoFit/>
          </a:bodyPr>
          <a:lstStyle/>
          <a:p>
            <a:pPr algn="l"/>
            <a:r>
              <a:rPr sz="2000" b="1">
                <a:solidFill>
                  <a:srgbClr val="1A7A6D"/>
                </a:solidFill>
                <a:latin typeface="Calibri"/>
              </a:rPr>
              <a:t>SC-03</a:t>
            </a:r>
          </a:p>
          <a:p>
            <a:r>
              <a:rPr sz="1500"/>
              <a:t>Expired batch refused</a:t>
            </a:r>
          </a:p>
        </p:txBody>
      </p:sp>
      <p:sp>
        <p:nvSpPr>
          <p:cNvPr id="14" name="Rounded Rectangle 13"/>
          <p:cNvSpPr/>
          <p:nvPr/>
        </p:nvSpPr>
        <p:spPr>
          <a:xfrm>
            <a:off x="457200" y="3657600"/>
            <a:ext cx="3657600" cy="19659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840480"/>
            <a:ext cx="3291840" cy="1645920"/>
          </a:xfrm>
          <a:prstGeom prst="rect">
            <a:avLst/>
          </a:prstGeom>
          <a:noFill/>
        </p:spPr>
        <p:txBody>
          <a:bodyPr wrap="square">
            <a:spAutoFit/>
          </a:bodyPr>
          <a:lstStyle/>
          <a:p>
            <a:pPr algn="l"/>
            <a:r>
              <a:rPr sz="2000" b="1">
                <a:solidFill>
                  <a:srgbClr val="1A7A6D"/>
                </a:solidFill>
                <a:latin typeface="Calibri"/>
              </a:rPr>
              <a:t>SC-06</a:t>
            </a:r>
          </a:p>
          <a:p>
            <a:r>
              <a:rPr sz="1500"/>
              <a:t>Void restores stock and keeps the sale</a:t>
            </a:r>
          </a:p>
        </p:txBody>
      </p:sp>
      <p:sp>
        <p:nvSpPr>
          <p:cNvPr id="16" name="Rounded Rectangle 15"/>
          <p:cNvSpPr/>
          <p:nvPr/>
        </p:nvSpPr>
        <p:spPr>
          <a:xfrm>
            <a:off x="4297680" y="3657600"/>
            <a:ext cx="3657600" cy="19659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3840480"/>
            <a:ext cx="3291840" cy="1645920"/>
          </a:xfrm>
          <a:prstGeom prst="rect">
            <a:avLst/>
          </a:prstGeom>
          <a:noFill/>
        </p:spPr>
        <p:txBody>
          <a:bodyPr wrap="square">
            <a:spAutoFit/>
          </a:bodyPr>
          <a:lstStyle/>
          <a:p>
            <a:pPr algn="l"/>
            <a:r>
              <a:rPr sz="2000" b="1">
                <a:solidFill>
                  <a:srgbClr val="1A7A6D"/>
                </a:solidFill>
                <a:latin typeface="Calibri"/>
              </a:rPr>
              <a:t>SC-07</a:t>
            </a:r>
          </a:p>
          <a:p>
            <a:r>
              <a:rPr sz="1500"/>
              <a:t>Pharmacist cannot open user administration</a:t>
            </a:r>
          </a:p>
        </p:txBody>
      </p:sp>
      <p:sp>
        <p:nvSpPr>
          <p:cNvPr id="18" name="Rounded Rectangle 17"/>
          <p:cNvSpPr/>
          <p:nvPr/>
        </p:nvSpPr>
        <p:spPr>
          <a:xfrm>
            <a:off x="8138160" y="3657600"/>
            <a:ext cx="3657600" cy="1965960"/>
          </a:xfrm>
          <a:prstGeom prst="roundRect">
            <a:avLst>
              <a:gd name="adj" fmla="val 8000"/>
            </a:avLst>
          </a:prstGeom>
          <a:solidFill>
            <a:srgbClr val="E6F3F1"/>
          </a:solidFill>
          <a:ln>
            <a:solidFill>
              <a:srgbClr val="1A7A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3840480"/>
            <a:ext cx="3291840" cy="1645920"/>
          </a:xfrm>
          <a:prstGeom prst="rect">
            <a:avLst/>
          </a:prstGeom>
          <a:noFill/>
        </p:spPr>
        <p:txBody>
          <a:bodyPr wrap="square">
            <a:spAutoFit/>
          </a:bodyPr>
          <a:lstStyle/>
          <a:p>
            <a:pPr algn="l"/>
            <a:r>
              <a:rPr sz="2000" b="1">
                <a:solidFill>
                  <a:srgbClr val="1A7A6D"/>
                </a:solidFill>
                <a:latin typeface="Calibri"/>
              </a:rPr>
              <a:t>SC-08</a:t>
            </a:r>
          </a:p>
          <a:p>
            <a:r>
              <a:rPr sz="1500"/>
              <a:t>Administrator report shows the completed sale once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10972800" cy="292608"/>
          </a:xfrm>
          <a:prstGeom prst="rect">
            <a:avLst/>
          </a:prstGeom>
          <a:noFill/>
        </p:spPr>
        <p:txBody>
          <a:bodyPr wrap="none">
            <a:spAutoFit/>
          </a:bodyPr>
          <a:lstStyle/>
          <a:p>
            <a:pPr algn="l"/>
            <a:r>
              <a:rPr sz="1200" b="1">
                <a:solidFill>
                  <a:srgbClr val="1A7A6D"/>
                </a:solidFill>
                <a:latin typeface="Calibri"/>
              </a:rPr>
              <a:t>CLOSE</a:t>
            </a:r>
          </a:p>
        </p:txBody>
      </p:sp>
      <p:sp>
        <p:nvSpPr>
          <p:cNvPr id="4" name="TextBox 3"/>
          <p:cNvSpPr txBox="1"/>
          <p:nvPr/>
        </p:nvSpPr>
        <p:spPr>
          <a:xfrm>
            <a:off x="502920" y="384048"/>
            <a:ext cx="11155680" cy="548640"/>
          </a:xfrm>
          <a:prstGeom prst="rect">
            <a:avLst/>
          </a:prstGeom>
          <a:noFill/>
        </p:spPr>
        <p:txBody>
          <a:bodyPr wrap="none">
            <a:spAutoFit/>
          </a:bodyPr>
          <a:lstStyle/>
          <a:p>
            <a:pPr algn="l"/>
            <a:r>
              <a:rPr sz="2800" b="1">
                <a:solidFill>
                  <a:srgbClr val="FFFFFF"/>
                </a:solidFill>
                <a:latin typeface="Calibri"/>
              </a:rPr>
              <a:t>Conclusion</a:t>
            </a:r>
          </a:p>
        </p:txBody>
      </p:sp>
      <p:sp>
        <p:nvSpPr>
          <p:cNvPr id="5" name="Rectangle 4"/>
          <p:cNvSpPr/>
          <p:nvPr/>
        </p:nvSpPr>
        <p:spPr>
          <a:xfrm>
            <a:off x="0" y="6748272"/>
            <a:ext cx="12191695" cy="109728"/>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256032"/>
          </a:xfrm>
          <a:prstGeom prst="rect">
            <a:avLst/>
          </a:prstGeom>
          <a:noFill/>
        </p:spPr>
        <p:txBody>
          <a:bodyPr wrap="none">
            <a:spAutoFit/>
          </a:bodyPr>
          <a:lstStyle/>
          <a:p>
            <a:pPr algn="l"/>
            <a:r>
              <a:rPr sz="1100" b="0">
                <a:solidFill>
                  <a:srgbClr val="5B6770"/>
                </a:solidFill>
                <a:latin typeface="Calibri"/>
              </a:rPr>
              <a:t>Group 20  ·  CSC 4630  ·  Pharmacy POS  ·  Unified Process  ·  Documentation phase</a:t>
            </a:r>
          </a:p>
        </p:txBody>
      </p:sp>
      <p:sp>
        <p:nvSpPr>
          <p:cNvPr id="7" name="TextBox 6"/>
          <p:cNvSpPr txBox="1"/>
          <p:nvPr/>
        </p:nvSpPr>
        <p:spPr>
          <a:xfrm>
            <a:off x="10607040" y="6473952"/>
            <a:ext cx="1188720" cy="256032"/>
          </a:xfrm>
          <a:prstGeom prst="rect">
            <a:avLst/>
          </a:prstGeom>
          <a:noFill/>
        </p:spPr>
        <p:txBody>
          <a:bodyPr wrap="none">
            <a:spAutoFit/>
          </a:bodyPr>
          <a:lstStyle/>
          <a:p>
            <a:pPr algn="r"/>
            <a:r>
              <a:rPr sz="1100" b="0">
                <a:solidFill>
                  <a:srgbClr val="5B6770"/>
                </a:solidFill>
                <a:latin typeface="Calibri"/>
              </a:rPr>
              <a:t>34 / 35</a:t>
            </a:r>
          </a:p>
        </p:txBody>
      </p:sp>
      <p:sp>
        <p:nvSpPr>
          <p:cNvPr id="8" name="TextBox 7"/>
          <p:cNvSpPr txBox="1"/>
          <p:nvPr/>
        </p:nvSpPr>
        <p:spPr>
          <a:xfrm>
            <a:off x="731520" y="1645920"/>
            <a:ext cx="10698480" cy="4389120"/>
          </a:xfrm>
          <a:prstGeom prst="rect">
            <a:avLst/>
          </a:prstGeom>
          <a:noFill/>
        </p:spPr>
        <p:txBody>
          <a:bodyPr wrap="square">
            <a:spAutoFit/>
          </a:bodyPr>
          <a:lstStyle/>
          <a:p>
            <a:pPr algn="l"/>
            <a:r>
              <a:rPr sz="2200" b="1">
                <a:solidFill>
                  <a:srgbClr val="0D3B4C"/>
                </a:solidFill>
                <a:latin typeface="Calibri"/>
              </a:rPr>
              <a:t>Group 20 has a single connected design.</a:t>
            </a:r>
          </a:p>
          <a:p>
            <a:r>
              <a:rPr sz="2000">
                <a:solidFill>
                  <a:srgbClr val="1A2332"/>
                </a:solidFill>
              </a:rPr>
              <a:t>
•  Process Sale is the thread through every artefact.</a:t>
            </a:r>
          </a:p>
          <a:p>
            <a:r>
              <a:rPr sz="2000">
                <a:solidFill>
                  <a:srgbClr val="1A2332"/>
                </a:solidFill>
              </a:rPr>
              <a:t>
•  Exactly two roles — the Pharmacist is the cashier.</a:t>
            </a:r>
          </a:p>
          <a:p>
            <a:r>
              <a:rPr sz="2000">
                <a:solidFill>
                  <a:srgbClr val="1A2332"/>
                </a:solidFill>
              </a:rPr>
              <a:t>
•  UP phases and the lecturer’s 15-week marks are mapped, not decorated.</a:t>
            </a:r>
          </a:p>
          <a:p>
            <a:r>
              <a:rPr sz="2000">
                <a:solidFill>
                  <a:srgbClr val="1A2332"/>
                </a:solidFill>
              </a:rPr>
              <a:t>
•  Code starts only on the instruction START IMPLEMENTATION.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3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A7A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515600" cy="1097280"/>
          </a:xfrm>
          <a:prstGeom prst="rect">
            <a:avLst/>
          </a:prstGeom>
          <a:noFill/>
        </p:spPr>
        <p:txBody>
          <a:bodyPr wrap="none">
            <a:spAutoFit/>
          </a:bodyPr>
          <a:lstStyle/>
          <a:p>
            <a:pPr algn="l"/>
            <a:r>
              <a:rPr sz="4800" b="1">
                <a:solidFill>
                  <a:srgbClr val="FFFFFF"/>
                </a:solidFill>
                <a:latin typeface="Calibri"/>
              </a:rPr>
              <a:t>Questions</a:t>
            </a:r>
          </a:p>
        </p:txBody>
      </p:sp>
      <p:sp>
        <p:nvSpPr>
          <p:cNvPr id="5" name="TextBox 4"/>
          <p:cNvSpPr txBox="1"/>
          <p:nvPr/>
        </p:nvSpPr>
        <p:spPr>
          <a:xfrm>
            <a:off x="822960" y="3474720"/>
            <a:ext cx="10515600" cy="1280160"/>
          </a:xfrm>
          <a:prstGeom prst="rect">
            <a:avLst/>
          </a:prstGeom>
          <a:noFill/>
        </p:spPr>
        <p:txBody>
          <a:bodyPr wrap="none">
            <a:spAutoFit/>
          </a:bodyPr>
          <a:lstStyle/>
          <a:p>
            <a:pPr algn="l"/>
            <a:r>
              <a:rPr sz="2000" b="0">
                <a:solidFill>
                  <a:srgbClr val="E6F3F1"/>
                </a:solidFill>
                <a:latin typeface="Calibri"/>
              </a:rPr>
              <a:t>Group 20  ·  CSC 4630  ·  Pharmacy POS
Unified Process  ·  Documentation first</a:t>
            </a:r>
          </a:p>
        </p:txBody>
      </p:sp>
      <p:sp>
        <p:nvSpPr>
          <p:cNvPr id="6" name="TextBox 5"/>
          <p:cNvSpPr txBox="1"/>
          <p:nvPr/>
        </p:nvSpPr>
        <p:spPr>
          <a:xfrm>
            <a:off x="822960" y="5943600"/>
            <a:ext cx="10515600" cy="365760"/>
          </a:xfrm>
          <a:prstGeom prst="rect">
            <a:avLst/>
          </a:prstGeom>
          <a:noFill/>
        </p:spPr>
        <p:txBody>
          <a:bodyPr wrap="none">
            <a:spAutoFit/>
          </a:bodyPr>
          <a:lstStyle/>
          <a:p>
            <a:pPr algn="l"/>
            <a:r>
              <a:rPr sz="1200" b="0">
                <a:solidFill>
                  <a:srgbClr val="E6F3F1"/>
                </a:solidFill>
                <a:latin typeface="Calibri"/>
              </a:rPr>
              <a:t>35 / 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